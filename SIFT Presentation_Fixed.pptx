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Plus Jakarta Sans" panose="020B0604020202020204" charset="0"/>
      <p:regular r:id="rId16"/>
      <p:bold r:id="rId17"/>
      <p:italic r:id="rId18"/>
      <p:boldItalic r:id="rId19"/>
    </p:embeddedFont>
    <p:embeddedFont>
      <p:font typeface="Space Grotesk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4D8"/>
    <a:srgbClr val="1C7293"/>
    <a:srgbClr val="0284C7"/>
    <a:srgbClr val="94A3B8"/>
    <a:srgbClr val="0B192C"/>
    <a:srgbClr val="233041"/>
    <a:srgbClr val="FFF1F2"/>
    <a:srgbClr val="172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D97887-567D-4FD6-AB8E-D817F6A3626F}">
  <a:tblStyle styleId="{51D97887-567D-4FD6-AB8E-D817F6A362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D3D9068-5F20-6B7D-30E9-2F3770052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254A7A9C-B6F9-F152-F885-567CB0A9C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7C83D91D-F03C-9640-AB20-EEDF2619E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30364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/>
        </p:nvSpPr>
        <p:spPr>
          <a:xfrm>
            <a:off x="609600" y="487680"/>
            <a:ext cx="10972800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00B4D8"/>
                </a:solidFill>
                <a:latin typeface="Space Grotesk"/>
                <a:ea typeface="Space Grotesk"/>
                <a:cs typeface="Space Grotesk"/>
                <a:sym typeface="Space Grotesk"/>
              </a:rPr>
              <a:t>SIFT:</a:t>
            </a:r>
            <a:endParaRPr lang="en-US" sz="8000" b="1" dirty="0">
              <a:solidFill>
                <a:srgbClr val="00B4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00B4D8"/>
                </a:solidFill>
                <a:latin typeface="Space Grotesk"/>
                <a:ea typeface="Space Grotesk"/>
                <a:cs typeface="Space Grotesk"/>
                <a:sym typeface="Space Grotesk"/>
              </a:rPr>
              <a:t>S</a:t>
            </a:r>
            <a:r>
              <a:rPr lang="en-US" sz="5400" b="1" i="0" u="none" strike="noStrike" cap="none" dirty="0">
                <a:solidFill>
                  <a:srgbClr val="00B4D8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CALABLE</a:t>
            </a:r>
            <a:r>
              <a:rPr lang="en-US" sz="8000" b="1" i="0" u="none" strike="noStrike" cap="none" dirty="0">
                <a:solidFill>
                  <a:srgbClr val="00B4D8"/>
                </a:solidFill>
                <a:latin typeface="Space Grotesk"/>
                <a:ea typeface="Space Grotesk"/>
                <a:cs typeface="Space Grotesk"/>
                <a:sym typeface="Space Grotesk"/>
              </a:rPr>
              <a:t> I</a:t>
            </a:r>
            <a:r>
              <a:rPr lang="en-US" sz="5400" b="1" i="0" u="none" strike="noStrike" cap="none" dirty="0">
                <a:solidFill>
                  <a:srgbClr val="00B4D8"/>
                </a:solidFill>
                <a:latin typeface="Space Grotesk"/>
                <a:ea typeface="Space Grotesk"/>
                <a:cs typeface="Space Grotesk"/>
                <a:sym typeface="Space Grotesk"/>
              </a:rPr>
              <a:t>oT</a:t>
            </a:r>
            <a:r>
              <a:rPr lang="en-US" sz="8000" b="1" i="0" u="none" strike="noStrike" cap="none" dirty="0">
                <a:solidFill>
                  <a:srgbClr val="00B4D8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00B4D8"/>
                </a:solidFill>
                <a:latin typeface="Space Grotesk"/>
                <a:ea typeface="Space Grotesk"/>
                <a:cs typeface="Space Grotesk"/>
                <a:sym typeface="Space Grotesk"/>
              </a:rPr>
              <a:t>F</a:t>
            </a:r>
            <a:r>
              <a:rPr lang="en-US" sz="5400" b="1" i="0" u="none" strike="noStrike" cap="none" dirty="0">
                <a:solidFill>
                  <a:srgbClr val="00B4D8"/>
                </a:solidFill>
                <a:latin typeface="Space Grotesk"/>
                <a:ea typeface="Space Grotesk"/>
                <a:cs typeface="Space Grotesk"/>
                <a:sym typeface="Space Grotesk"/>
              </a:rPr>
              <a:t>OR</a:t>
            </a:r>
            <a:r>
              <a:rPr lang="en-US" sz="8000" b="1" i="0" u="none" strike="noStrike" cap="none" dirty="0">
                <a:solidFill>
                  <a:srgbClr val="00B4D8"/>
                </a:solidFill>
                <a:latin typeface="Space Grotesk"/>
                <a:ea typeface="Space Grotesk"/>
                <a:cs typeface="Space Grotesk"/>
                <a:sym typeface="Space Grotesk"/>
              </a:rPr>
              <a:t> T</a:t>
            </a:r>
            <a:r>
              <a:rPr lang="en-US" sz="5400" b="1" i="0" u="none" strike="noStrike" cap="none" dirty="0">
                <a:solidFill>
                  <a:srgbClr val="00B4D8"/>
                </a:solidFill>
                <a:latin typeface="Space Grotesk"/>
                <a:ea typeface="Space Grotesk"/>
                <a:cs typeface="Space Grotesk"/>
                <a:sym typeface="Space Grotesk"/>
              </a:rPr>
              <a:t>ENANTS</a:t>
            </a:r>
            <a:endParaRPr sz="5400" dirty="0">
              <a:solidFill>
                <a:srgbClr val="00B4D8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720F74-CF68-A569-90E1-2EAFA3FF42FA}"/>
              </a:ext>
            </a:extLst>
          </p:cNvPr>
          <p:cNvGrpSpPr/>
          <p:nvPr/>
        </p:nvGrpSpPr>
        <p:grpSpPr>
          <a:xfrm>
            <a:off x="609600" y="4650914"/>
            <a:ext cx="10972800" cy="1642189"/>
            <a:chOff x="2505456" y="4550331"/>
            <a:chExt cx="7287768" cy="1210389"/>
          </a:xfrm>
        </p:grpSpPr>
        <p:sp>
          <p:nvSpPr>
            <p:cNvPr id="84" name="Google Shape;84;p13"/>
            <p:cNvSpPr/>
            <p:nvPr/>
          </p:nvSpPr>
          <p:spPr>
            <a:xfrm>
              <a:off x="2505456" y="4550331"/>
              <a:ext cx="7287768" cy="1210389"/>
            </a:xfrm>
            <a:prstGeom prst="roundRect">
              <a:avLst>
                <a:gd name="adj" fmla="val 7500"/>
              </a:avLst>
            </a:prstGeom>
            <a:solidFill>
              <a:srgbClr val="172537"/>
            </a:solidFill>
            <a:ln w="9525" cap="flat" cmpd="sng">
              <a:solidFill>
                <a:srgbClr val="23304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3"/>
            <p:cNvSpPr txBox="1"/>
            <p:nvPr/>
          </p:nvSpPr>
          <p:spPr>
            <a:xfrm>
              <a:off x="2752344" y="4709910"/>
              <a:ext cx="3721608" cy="408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 dirty="0">
                  <a:solidFill>
                    <a:srgbClr val="1C729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</a:t>
              </a:r>
              <a:r>
                <a:rPr lang="en-US" sz="2400" b="1" i="0" u="none" strike="noStrike" cap="none" dirty="0">
                  <a:solidFill>
                    <a:srgbClr val="1C729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HREYASH</a:t>
              </a:r>
              <a:r>
                <a:rPr lang="en-US" sz="3600" b="1" i="0" u="none" strike="noStrike" cap="none" dirty="0">
                  <a:solidFill>
                    <a:srgbClr val="1C729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V</a:t>
              </a:r>
              <a:r>
                <a:rPr lang="en-US" sz="2400" b="1" i="0" u="none" strike="noStrike" cap="none" dirty="0">
                  <a:solidFill>
                    <a:srgbClr val="1C729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AIGANKAR</a:t>
              </a:r>
              <a:endParaRPr sz="2400" dirty="0">
                <a:solidFill>
                  <a:srgbClr val="1C7293"/>
                </a:solidFill>
              </a:endParaRPr>
            </a:p>
          </p:txBody>
        </p:sp>
        <p:sp>
          <p:nvSpPr>
            <p:cNvPr id="101" name="Google Shape;101;p13"/>
            <p:cNvSpPr txBox="1"/>
            <p:nvPr/>
          </p:nvSpPr>
          <p:spPr>
            <a:xfrm>
              <a:off x="2752344" y="5287711"/>
              <a:ext cx="3098482" cy="317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 dirty="0">
                  <a:solidFill>
                    <a:schemeClr val="bg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25P0320045</a:t>
              </a:r>
              <a:endParaRPr sz="4000" dirty="0">
                <a:solidFill>
                  <a:schemeClr val="bg1"/>
                </a:solidFill>
              </a:endParaRPr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7585344" y="4709910"/>
              <a:ext cx="2028429" cy="408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 dirty="0">
                  <a:solidFill>
                    <a:srgbClr val="1C729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</a:t>
              </a:r>
              <a:r>
                <a:rPr lang="en-US" sz="2400" b="1" i="0" u="none" strike="noStrike" cap="none" dirty="0">
                  <a:solidFill>
                    <a:srgbClr val="1C729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AMUEL</a:t>
              </a:r>
              <a:r>
                <a:rPr lang="en-US" sz="3600" b="1" i="0" u="none" strike="noStrike" cap="none" dirty="0">
                  <a:solidFill>
                    <a:srgbClr val="1C729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D</a:t>
              </a:r>
              <a:r>
                <a:rPr lang="en-US" sz="2400" b="1" i="0" u="none" strike="noStrike" cap="none" dirty="0">
                  <a:solidFill>
                    <a:srgbClr val="1C729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’SOUZA</a:t>
              </a:r>
              <a:endParaRPr sz="2400" dirty="0">
                <a:solidFill>
                  <a:srgbClr val="1C7293"/>
                </a:solidFill>
              </a:endParaRPr>
            </a:p>
          </p:txBody>
        </p:sp>
        <p:sp>
          <p:nvSpPr>
            <p:cNvPr id="103" name="Google Shape;103;p13"/>
            <p:cNvSpPr txBox="1"/>
            <p:nvPr/>
          </p:nvSpPr>
          <p:spPr>
            <a:xfrm>
              <a:off x="8057698" y="5287710"/>
              <a:ext cx="1488638" cy="317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 dirty="0">
                  <a:solidFill>
                    <a:schemeClr val="bg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25P0320041</a:t>
              </a:r>
              <a:endParaRPr sz="40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/>
          <p:nvPr/>
        </p:nvSpPr>
        <p:spPr>
          <a:xfrm>
            <a:off x="609600" y="2286000"/>
            <a:ext cx="5372100" cy="3257550"/>
          </a:xfrm>
          <a:prstGeom prst="roundRect">
            <a:avLst>
              <a:gd name="adj" fmla="val 4678"/>
            </a:avLst>
          </a:prstGeom>
          <a:solidFill>
            <a:srgbClr val="FFF1F2"/>
          </a:solidFill>
          <a:ln w="9525" cap="flat" cmpd="sng">
            <a:solidFill>
              <a:srgbClr val="FE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6210300" y="2286000"/>
            <a:ext cx="5372100" cy="3257550"/>
          </a:xfrm>
          <a:prstGeom prst="roundRect">
            <a:avLst>
              <a:gd name="adj" fmla="val 4678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26003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26003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2987" y="269557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69557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/>
        </p:nvSpPr>
        <p:spPr>
          <a:xfrm>
            <a:off x="609600" y="457200"/>
            <a:ext cx="11582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C729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CHANGE</a:t>
            </a:r>
            <a:endParaRPr sz="1800" dirty="0"/>
          </a:p>
        </p:txBody>
      </p:sp>
      <p:sp>
        <p:nvSpPr>
          <p:cNvPr id="127" name="Google Shape;127;p14"/>
          <p:cNvSpPr txBox="1"/>
          <p:nvPr/>
        </p:nvSpPr>
        <p:spPr>
          <a:xfrm>
            <a:off x="609600" y="704850"/>
            <a:ext cx="1158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Legacy Single-Household vs. Cloud Native SIFT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609600" y="1209675"/>
            <a:ext cx="1158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Transforming single-user open-source software into an isolated multi-tenant cloud service</a:t>
            </a:r>
            <a:endParaRPr sz="1800" dirty="0">
              <a:solidFill>
                <a:srgbClr val="94A3B8"/>
              </a:solidFill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419225" y="2657475"/>
            <a:ext cx="45755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8813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Legacy Monolithic Home Assistant</a:t>
            </a:r>
            <a:endParaRPr sz="1800" dirty="0"/>
          </a:p>
        </p:txBody>
      </p:sp>
      <p:sp>
        <p:nvSpPr>
          <p:cNvPr id="130" name="Google Shape;130;p14"/>
          <p:cNvSpPr txBox="1"/>
          <p:nvPr/>
        </p:nvSpPr>
        <p:spPr>
          <a:xfrm>
            <a:off x="923925" y="3133725"/>
            <a:ext cx="4838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 LAN Bound:</a:t>
            </a:r>
            <a:r>
              <a:rPr lang="en-US" sz="1600" b="0" i="0" u="none" strike="noStrike" cap="none" dirty="0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Designed strictly for one local Wi-Fi router.</a:t>
            </a:r>
            <a:endParaRPr sz="1800" dirty="0"/>
          </a:p>
        </p:txBody>
      </p:sp>
      <p:sp>
        <p:nvSpPr>
          <p:cNvPr id="131" name="Google Shape;131;p14"/>
          <p:cNvSpPr txBox="1"/>
          <p:nvPr/>
        </p:nvSpPr>
        <p:spPr>
          <a:xfrm>
            <a:off x="923925" y="3686175"/>
            <a:ext cx="4838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Account Isolation:</a:t>
            </a:r>
            <a:r>
              <a:rPr lang="en-US" sz="1600" b="0" i="0" u="none" strike="noStrike" cap="none" dirty="0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Shared instance exposes all switches.</a:t>
            </a:r>
            <a:endParaRPr sz="1800" dirty="0"/>
          </a:p>
        </p:txBody>
      </p:sp>
      <p:sp>
        <p:nvSpPr>
          <p:cNvPr id="132" name="Google Shape;132;p14"/>
          <p:cNvSpPr txBox="1"/>
          <p:nvPr/>
        </p:nvSpPr>
        <p:spPr>
          <a:xfrm>
            <a:off x="923925" y="4238625"/>
            <a:ext cx="4838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Setup Wizard:</a:t>
            </a:r>
            <a:r>
              <a:rPr lang="en-US" sz="1600" b="0" i="0" u="none" strike="noStrike" cap="non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Requires 4-step wizard for every install.</a:t>
            </a:r>
            <a:endParaRPr sz="1800"/>
          </a:p>
        </p:txBody>
      </p:sp>
      <p:sp>
        <p:nvSpPr>
          <p:cNvPr id="133" name="Google Shape;133;p14"/>
          <p:cNvSpPr txBox="1"/>
          <p:nvPr/>
        </p:nvSpPr>
        <p:spPr>
          <a:xfrm>
            <a:off x="923925" y="4791075"/>
            <a:ext cx="4838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Tiered Limits:</a:t>
            </a:r>
            <a:r>
              <a:rPr lang="en-US" sz="1600" b="0" i="0" u="none" strike="noStrike" cap="non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Cannot restrict device counts or seat roles.</a:t>
            </a:r>
            <a:endParaRPr sz="1800"/>
          </a:p>
        </p:txBody>
      </p:sp>
      <p:sp>
        <p:nvSpPr>
          <p:cNvPr id="134" name="Google Shape;134;p14"/>
          <p:cNvSpPr txBox="1"/>
          <p:nvPr/>
        </p:nvSpPr>
        <p:spPr>
          <a:xfrm>
            <a:off x="7019925" y="2657475"/>
            <a:ext cx="38129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SIFT Cloud Native SaaS</a:t>
            </a:r>
            <a:endParaRPr sz="1800" dirty="0"/>
          </a:p>
        </p:txBody>
      </p:sp>
      <p:sp>
        <p:nvSpPr>
          <p:cNvPr id="135" name="Google Shape;135;p14"/>
          <p:cNvSpPr txBox="1"/>
          <p:nvPr/>
        </p:nvSpPr>
        <p:spPr>
          <a:xfrm>
            <a:off x="6524625" y="3133725"/>
            <a:ext cx="4838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Provisioning:</a:t>
            </a:r>
            <a:r>
              <a:rPr lang="en-US" sz="1600" b="0" i="0" u="none" strike="noStrike" cap="none" dirty="0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1-click household onboarding on AWS.</a:t>
            </a:r>
            <a:endParaRPr sz="1800" dirty="0"/>
          </a:p>
        </p:txBody>
      </p:sp>
      <p:sp>
        <p:nvSpPr>
          <p:cNvPr id="136" name="Google Shape;136;p14"/>
          <p:cNvSpPr txBox="1"/>
          <p:nvPr/>
        </p:nvSpPr>
        <p:spPr>
          <a:xfrm>
            <a:off x="6524625" y="3686175"/>
            <a:ext cx="4838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6-Layer Zero-Trust:</a:t>
            </a:r>
            <a:r>
              <a:rPr lang="en-US" sz="1600" b="0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Dedicated K8s namespaces &amp; MQTT topics.</a:t>
            </a:r>
            <a:endParaRPr sz="1800"/>
          </a:p>
        </p:txBody>
      </p:sp>
      <p:sp>
        <p:nvSpPr>
          <p:cNvPr id="137" name="Google Shape;137;p14"/>
          <p:cNvSpPr txBox="1"/>
          <p:nvPr/>
        </p:nvSpPr>
        <p:spPr>
          <a:xfrm>
            <a:off x="6524625" y="4238625"/>
            <a:ext cx="4838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Onboarding Bypass:</a:t>
            </a:r>
            <a:r>
              <a:rPr lang="en-US" sz="1600" b="0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Pre-seeded authentication skips wizard.</a:t>
            </a:r>
            <a:endParaRPr sz="1800"/>
          </a:p>
        </p:txBody>
      </p:sp>
      <p:sp>
        <p:nvSpPr>
          <p:cNvPr id="138" name="Google Shape;138;p14"/>
          <p:cNvSpPr txBox="1"/>
          <p:nvPr/>
        </p:nvSpPr>
        <p:spPr>
          <a:xfrm>
            <a:off x="6524625" y="4791075"/>
            <a:ext cx="4838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Tiered Subscriptions:</a:t>
            </a:r>
            <a:r>
              <a:rPr lang="en-US" sz="1600" b="0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Single Plan (10 dev) vs Family Plan (30 dev).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/>
          <p:nvPr/>
        </p:nvSpPr>
        <p:spPr>
          <a:xfrm>
            <a:off x="609600" y="5695950"/>
            <a:ext cx="10972800" cy="70485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numCol="2" anchor="ctr" anchorCtr="0">
            <a:noAutofit/>
          </a:bodyPr>
          <a:lstStyle/>
          <a:p>
            <a:pPr marL="447675" lvl="0"/>
            <a:r>
              <a:rPr lang="en-US" sz="1800" b="1" dirty="0">
                <a:solidFill>
                  <a:srgbClr val="0284C7"/>
                </a:solidFill>
                <a:latin typeface="Plus Jakarta Sans" panose="020B0604020202020204" charset="0"/>
                <a:cs typeface="Plus Jakarta Sans" panose="020B0604020202020204" charset="0"/>
              </a:rPr>
              <a:t>Human Web Path: </a:t>
            </a:r>
            <a:r>
              <a:rPr lang="en-US" sz="1800" dirty="0">
                <a:solidFill>
                  <a:srgbClr val="0284C7"/>
                </a:solidFill>
                <a:latin typeface="Plus Jakarta Sans" panose="020B0604020202020204" charset="0"/>
                <a:cs typeface="Plus Jakarta Sans" panose="020B0604020202020204" charset="0"/>
              </a:rPr>
              <a:t>Browser → Portal (:3000) / Home Assistant (:8123) / </a:t>
            </a:r>
            <a:r>
              <a:rPr lang="en-US" sz="1800" dirty="0" err="1">
                <a:solidFill>
                  <a:srgbClr val="0284C7"/>
                </a:solidFill>
                <a:latin typeface="Plus Jakarta Sans" panose="020B0604020202020204" charset="0"/>
                <a:cs typeface="Plus Jakarta Sans" panose="020B0604020202020204" charset="0"/>
              </a:rPr>
              <a:t>ThingsBoard</a:t>
            </a:r>
            <a:r>
              <a:rPr lang="en-US" sz="1800" dirty="0">
                <a:solidFill>
                  <a:srgbClr val="0284C7"/>
                </a:solidFill>
                <a:latin typeface="Plus Jakarta Sans" panose="020B0604020202020204" charset="0"/>
                <a:cs typeface="Plus Jakarta Sans" panose="020B0604020202020204" charset="0"/>
              </a:rPr>
              <a:t> (:8080)</a:t>
            </a:r>
          </a:p>
          <a:p>
            <a:pPr marL="539750" lvl="0"/>
            <a:r>
              <a:rPr lang="en-IN" sz="1800" b="1" dirty="0">
                <a:solidFill>
                  <a:srgbClr val="0284C7"/>
                </a:solidFill>
                <a:latin typeface="Plus Jakarta Sans" panose="020B0604020202020204" charset="0"/>
                <a:cs typeface="Plus Jakarta Sans" panose="020B0604020202020204" charset="0"/>
              </a:rPr>
              <a:t>IoT Device Path: </a:t>
            </a:r>
            <a:r>
              <a:rPr lang="en-IN" sz="1800" dirty="0">
                <a:solidFill>
                  <a:srgbClr val="0284C7"/>
                </a:solidFill>
                <a:latin typeface="Plus Jakarta Sans" panose="020B0604020202020204" charset="0"/>
                <a:cs typeface="Plus Jakarta Sans" panose="020B0604020202020204" charset="0"/>
              </a:rPr>
              <a:t>ESP32 → MQTT (:1883) → Bridge → Home Assistant &amp; </a:t>
            </a:r>
            <a:r>
              <a:rPr lang="en-IN" sz="1800" dirty="0" err="1">
                <a:solidFill>
                  <a:srgbClr val="0284C7"/>
                </a:solidFill>
                <a:latin typeface="Plus Jakarta Sans" panose="020B0604020202020204" charset="0"/>
                <a:cs typeface="Plus Jakarta Sans" panose="020B0604020202020204" charset="0"/>
              </a:rPr>
              <a:t>ThingsBoard</a:t>
            </a:r>
            <a:endParaRPr sz="2400" i="0" u="none" strike="noStrike" cap="none" dirty="0">
              <a:solidFill>
                <a:srgbClr val="0284C7"/>
              </a:solidFill>
              <a:latin typeface="Plus Jakarta Sans" panose="020B0604020202020204" charset="0"/>
              <a:ea typeface="Calibri"/>
              <a:cs typeface="Plus Jakarta Sans" panose="020B0604020202020204" charset="0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609600" y="1851132"/>
            <a:ext cx="4505325" cy="3207386"/>
          </a:xfrm>
          <a:prstGeom prst="roundRect">
            <a:avLst>
              <a:gd name="adj" fmla="val 5093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7077075" y="1851132"/>
            <a:ext cx="4505325" cy="3207386"/>
          </a:xfrm>
          <a:prstGeom prst="roundRect">
            <a:avLst>
              <a:gd name="adj" fmla="val 5525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609600" y="5695950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5343525" y="3133725"/>
            <a:ext cx="1504950" cy="32385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885825" y="2086372"/>
            <a:ext cx="2085974" cy="276999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7353300" y="2084628"/>
            <a:ext cx="2105024" cy="276999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1700" y="35337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87692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609600" y="457200"/>
            <a:ext cx="11582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DESIGN</a:t>
            </a:r>
            <a:endParaRPr sz="1800"/>
          </a:p>
        </p:txBody>
      </p:sp>
      <p:sp>
        <p:nvSpPr>
          <p:cNvPr id="154" name="Google Shape;154;p15"/>
          <p:cNvSpPr txBox="1"/>
          <p:nvPr/>
        </p:nvSpPr>
        <p:spPr>
          <a:xfrm>
            <a:off x="609600" y="704850"/>
            <a:ext cx="1158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Two-Node AWS Architecture &amp; Traffic Separation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609600" y="1209675"/>
            <a:ext cx="1158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 environment running on AWS EC2 inside a VPC</a:t>
            </a:r>
            <a:endParaRPr sz="1800" dirty="0">
              <a:solidFill>
                <a:srgbClr val="94A3B8"/>
              </a:solidFill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885825" y="2467373"/>
            <a:ext cx="4229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Services &amp; Broker Hub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885825" y="2819798"/>
            <a:ext cx="4048125" cy="210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5113" marR="0" lvl="0" indent="-17145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K3s Control Plane: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Orchestrates cluster configuration.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Traefik</a:t>
            </a: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Ingress: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Layer-7 gateway on ports :80 / :3000.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MQTT Broker: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Mosquitto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/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Magistrala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 port :1883.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SIFT Services: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Provisioning, Identity, IoT &amp; Telemetry Bridge.</a:t>
            </a:r>
            <a:endParaRPr sz="1800" dirty="0">
              <a:solidFill>
                <a:srgbClr val="94A3B8"/>
              </a:solidFill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5307806" y="3209925"/>
            <a:ext cx="157638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K3s Flannel VXLAN</a:t>
            </a:r>
            <a:endParaRPr sz="1800" dirty="0"/>
          </a:p>
        </p:txBody>
      </p:sp>
      <p:sp>
        <p:nvSpPr>
          <p:cNvPr id="159" name="Google Shape;159;p15"/>
          <p:cNvSpPr txBox="1"/>
          <p:nvPr/>
        </p:nvSpPr>
        <p:spPr>
          <a:xfrm>
            <a:off x="5810250" y="3838575"/>
            <a:ext cx="8572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 6443</a:t>
            </a:r>
            <a:endParaRPr sz="1800" dirty="0">
              <a:solidFill>
                <a:srgbClr val="94A3B8"/>
              </a:solidFill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7353300" y="2465629"/>
            <a:ext cx="4229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Tenant Execution Pool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7353300" y="2818054"/>
            <a:ext cx="4048125" cy="210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5113" marR="0" lvl="0" indent="-17145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Isolated Pods: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Runs tenant Home Assistant workloads.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Tenant Namespaces: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tenant-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samuel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-land.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Resource Quotas: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Enforces 1Gi RAM &amp; 3 Pod limits.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 Policies: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Drops cross-tenant container pings.</a:t>
            </a:r>
            <a:endParaRPr sz="1800" dirty="0">
              <a:solidFill>
                <a:srgbClr val="94A3B8"/>
              </a:solidFill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981074" y="2124473"/>
            <a:ext cx="199072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Node 1: Identity &amp; Control</a:t>
            </a:r>
            <a:endParaRPr sz="1200" dirty="0"/>
          </a:p>
        </p:txBody>
      </p:sp>
      <p:sp>
        <p:nvSpPr>
          <p:cNvPr id="164" name="Google Shape;164;p15"/>
          <p:cNvSpPr txBox="1"/>
          <p:nvPr/>
        </p:nvSpPr>
        <p:spPr>
          <a:xfrm>
            <a:off x="7448549" y="2122729"/>
            <a:ext cx="20097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Node 2: K8s Worker Node</a:t>
            </a:r>
            <a:endParaRPr sz="1200" dirty="0"/>
          </a:p>
        </p:txBody>
      </p:sp>
      <p:pic>
        <p:nvPicPr>
          <p:cNvPr id="3" name="Google Shape;151;p15" descr="image.png">
            <a:extLst>
              <a:ext uri="{FF2B5EF4-FFF2-40B4-BE49-F238E27FC236}">
                <a16:creationId xmlns:a16="http://schemas.microsoft.com/office/drawing/2014/main" id="{1939BD8B-E130-70CC-DB80-96297AE2D3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587692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/>
          <p:nvPr/>
        </p:nvSpPr>
        <p:spPr>
          <a:xfrm>
            <a:off x="609600" y="457200"/>
            <a:ext cx="11582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C729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SERVICES &amp; MICROSERVICES</a:t>
            </a:r>
            <a:endParaRPr sz="1800" dirty="0"/>
          </a:p>
        </p:txBody>
      </p:sp>
      <p:sp>
        <p:nvSpPr>
          <p:cNvPr id="187" name="Google Shape;187;p16"/>
          <p:cNvSpPr txBox="1"/>
          <p:nvPr/>
        </p:nvSpPr>
        <p:spPr>
          <a:xfrm>
            <a:off x="609600" y="704850"/>
            <a:ext cx="1158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Decomposed Microservices Architecture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609600" y="1209675"/>
            <a:ext cx="1158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Four specialized Node.js services communicating via internal HTTP and shared @sift/common workspace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609600" y="2084832"/>
            <a:ext cx="2600325" cy="4068318"/>
          </a:xfrm>
          <a:prstGeom prst="roundRect">
            <a:avLst>
              <a:gd name="adj" fmla="val 4395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400425" y="2084832"/>
            <a:ext cx="2600325" cy="4068318"/>
          </a:xfrm>
          <a:prstGeom prst="roundRect">
            <a:avLst>
              <a:gd name="adj" fmla="val 4395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6191250" y="2084832"/>
            <a:ext cx="2600325" cy="4068318"/>
          </a:xfrm>
          <a:prstGeom prst="roundRect">
            <a:avLst>
              <a:gd name="adj" fmla="val 4395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8982075" y="2084832"/>
            <a:ext cx="2600325" cy="4068318"/>
          </a:xfrm>
          <a:prstGeom prst="roundRect">
            <a:avLst>
              <a:gd name="adj" fmla="val 4395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847725" y="5700522"/>
            <a:ext cx="2124075" cy="266700"/>
          </a:xfrm>
          <a:prstGeom prst="roundRect">
            <a:avLst>
              <a:gd name="adj" fmla="val 21428"/>
            </a:avLst>
          </a:prstGeom>
          <a:solidFill>
            <a:srgbClr val="0B192C"/>
          </a:solidFill>
          <a:ln>
            <a:solidFill>
              <a:srgbClr val="23304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3638550" y="5700522"/>
            <a:ext cx="2124075" cy="266700"/>
          </a:xfrm>
          <a:prstGeom prst="roundRect">
            <a:avLst>
              <a:gd name="adj" fmla="val 21428"/>
            </a:avLst>
          </a:prstGeom>
          <a:solidFill>
            <a:srgbClr val="0B192C"/>
          </a:solidFill>
          <a:ln>
            <a:solidFill>
              <a:srgbClr val="23304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6429375" y="5700522"/>
            <a:ext cx="2124075" cy="266700"/>
          </a:xfrm>
          <a:prstGeom prst="roundRect">
            <a:avLst>
              <a:gd name="adj" fmla="val 21428"/>
            </a:avLst>
          </a:prstGeom>
          <a:solidFill>
            <a:srgbClr val="0B192C"/>
          </a:solidFill>
          <a:ln>
            <a:solidFill>
              <a:srgbClr val="23304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9220200" y="5700522"/>
            <a:ext cx="2124075" cy="266700"/>
          </a:xfrm>
          <a:prstGeom prst="roundRect">
            <a:avLst>
              <a:gd name="adj" fmla="val 21428"/>
            </a:avLst>
          </a:prstGeom>
          <a:solidFill>
            <a:srgbClr val="0B192C"/>
          </a:solidFill>
          <a:ln>
            <a:solidFill>
              <a:srgbClr val="23304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231952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550" y="231952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9375" y="231952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20200" y="231952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3450" y="2414778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14750" y="2414778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4625" y="241477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15450" y="2414778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 txBox="1"/>
          <p:nvPr/>
        </p:nvSpPr>
        <p:spPr>
          <a:xfrm>
            <a:off x="942975" y="5757672"/>
            <a:ext cx="202882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Helm / K8s Client SDK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3733800" y="5757672"/>
            <a:ext cx="202882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Bcrypt</a:t>
            </a:r>
            <a:r>
              <a:rPr lang="en-US" sz="1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+ </a:t>
            </a:r>
            <a:r>
              <a:rPr lang="en-US" sz="12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Nodemailer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6524625" y="5757672"/>
            <a:ext cx="202882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Single-View Credentials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9315450" y="5757672"/>
            <a:ext cx="202882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ThingsBoard</a:t>
            </a:r>
            <a:r>
              <a:rPr lang="en-US" sz="1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Gateway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847725" y="2776728"/>
            <a:ext cx="278784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provisioning-</a:t>
            </a:r>
            <a:r>
              <a:rPr lang="en-US" sz="18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847725" y="3144393"/>
            <a:ext cx="265509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PORTS :3000 &amp; :8081</a:t>
            </a:r>
            <a:endParaRPr sz="2400" dirty="0"/>
          </a:p>
        </p:txBody>
      </p:sp>
      <p:sp>
        <p:nvSpPr>
          <p:cNvPr id="195" name="Google Shape;195;p16"/>
          <p:cNvSpPr txBox="1"/>
          <p:nvPr/>
        </p:nvSpPr>
        <p:spPr>
          <a:xfrm>
            <a:off x="847725" y="3411093"/>
            <a:ext cx="2219325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Gateway, Web Portal &amp; K8s Helm Orchestrator. Manages tenant creation, HMAC secret generation, and internal status callbacks.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3638550" y="2776728"/>
            <a:ext cx="278784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identity-service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3638550" y="3144393"/>
            <a:ext cx="265509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 :3001</a:t>
            </a:r>
            <a:endParaRPr sz="2400"/>
          </a:p>
        </p:txBody>
      </p:sp>
      <p:sp>
        <p:nvSpPr>
          <p:cNvPr id="198" name="Google Shape;198;p16"/>
          <p:cNvSpPr txBox="1"/>
          <p:nvPr/>
        </p:nvSpPr>
        <p:spPr>
          <a:xfrm>
            <a:off x="3638550" y="3411093"/>
            <a:ext cx="2219325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Handles user registrations, 12-round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bcrypt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password hashing, Gmail SMTP 2FA/OTP emails, JWT sessions, and member invitations.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6429375" y="2776728"/>
            <a:ext cx="278784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iot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-broker-service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6429375" y="3144393"/>
            <a:ext cx="265509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 :3004</a:t>
            </a:r>
            <a:endParaRPr sz="2400"/>
          </a:p>
        </p:txBody>
      </p:sp>
      <p:sp>
        <p:nvSpPr>
          <p:cNvPr id="201" name="Google Shape;201;p16"/>
          <p:cNvSpPr txBox="1"/>
          <p:nvPr/>
        </p:nvSpPr>
        <p:spPr>
          <a:xfrm>
            <a:off x="6429375" y="3411093"/>
            <a:ext cx="2219325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Manages device registry, single-view secret generation, credential rotation, revocation, and MQTT downlink command execution.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9220200" y="2776728"/>
            <a:ext cx="278784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tb-bridge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9220200" y="3144393"/>
            <a:ext cx="265509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 :3002</a:t>
            </a:r>
            <a:endParaRPr sz="2400" dirty="0"/>
          </a:p>
        </p:txBody>
      </p:sp>
      <p:sp>
        <p:nvSpPr>
          <p:cNvPr id="204" name="Google Shape;204;p16"/>
          <p:cNvSpPr txBox="1"/>
          <p:nvPr/>
        </p:nvSpPr>
        <p:spPr>
          <a:xfrm>
            <a:off x="9220200" y="3411093"/>
            <a:ext cx="2219325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Standalone MQTT observer forwarding live device metrics to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ThingsBoard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(:1884) and notifying provisioning of active device status.</a:t>
            </a:r>
            <a:endParaRPr sz="2000" dirty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/>
          <p:nvPr/>
        </p:nvSpPr>
        <p:spPr>
          <a:xfrm>
            <a:off x="609600" y="2295525"/>
            <a:ext cx="2436018" cy="3238500"/>
          </a:xfrm>
          <a:prstGeom prst="roundRect">
            <a:avLst>
              <a:gd name="adj" fmla="val 4692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3455193" y="2295525"/>
            <a:ext cx="2436018" cy="3238500"/>
          </a:xfrm>
          <a:prstGeom prst="roundRect">
            <a:avLst>
              <a:gd name="adj" fmla="val 4692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6300787" y="2295525"/>
            <a:ext cx="2436018" cy="3238500"/>
          </a:xfrm>
          <a:prstGeom prst="roundRect">
            <a:avLst>
              <a:gd name="adj" fmla="val 4692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9146381" y="2295525"/>
            <a:ext cx="2436018" cy="3238500"/>
          </a:xfrm>
          <a:prstGeom prst="roundRect">
            <a:avLst>
              <a:gd name="adj" fmla="val 4692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809625" y="2505075"/>
            <a:ext cx="605433" cy="219075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3655218" y="2505075"/>
            <a:ext cx="600075" cy="219075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6500812" y="2505075"/>
            <a:ext cx="624484" cy="21907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9346406" y="2505075"/>
            <a:ext cx="634008" cy="219075"/>
          </a:xfrm>
          <a:prstGeom prst="roundRect">
            <a:avLst>
              <a:gd name="adj" fmla="val 17391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8018" y="3829050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3612" y="3829050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89206" y="3829050"/>
            <a:ext cx="1047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7"/>
          <p:cNvSpPr txBox="1"/>
          <p:nvPr/>
        </p:nvSpPr>
        <p:spPr>
          <a:xfrm>
            <a:off x="609600" y="457200"/>
            <a:ext cx="11582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REQUEST &amp; DATA FLOW</a:t>
            </a:r>
            <a:endParaRPr sz="1800"/>
          </a:p>
        </p:txBody>
      </p:sp>
      <p:sp>
        <p:nvSpPr>
          <p:cNvPr id="221" name="Google Shape;221;p17"/>
          <p:cNvSpPr txBox="1"/>
          <p:nvPr/>
        </p:nvSpPr>
        <p:spPr>
          <a:xfrm>
            <a:off x="609600" y="704850"/>
            <a:ext cx="1158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Onboarding &amp; Telemetry Pipeline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609600" y="1209675"/>
            <a:ext cx="1158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Trace of account setup, container provisioning, and real-time MQTT message fan-out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809625" y="5181600"/>
            <a:ext cx="25449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 /v1/tenants</a:t>
            </a:r>
            <a:endParaRPr sz="2400" dirty="0"/>
          </a:p>
        </p:txBody>
      </p:sp>
      <p:sp>
        <p:nvSpPr>
          <p:cNvPr id="224" name="Google Shape;224;p17"/>
          <p:cNvSpPr txBox="1"/>
          <p:nvPr/>
        </p:nvSpPr>
        <p:spPr>
          <a:xfrm>
            <a:off x="3655218" y="5181600"/>
            <a:ext cx="25449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Helm Chart Deploy</a:t>
            </a:r>
            <a:endParaRPr sz="2400"/>
          </a:p>
        </p:txBody>
      </p:sp>
      <p:sp>
        <p:nvSpPr>
          <p:cNvPr id="225" name="Google Shape;225;p17"/>
          <p:cNvSpPr txBox="1"/>
          <p:nvPr/>
        </p:nvSpPr>
        <p:spPr>
          <a:xfrm>
            <a:off x="6500812" y="5181600"/>
            <a:ext cx="25449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Single-View Secret</a:t>
            </a:r>
            <a:endParaRPr sz="2400"/>
          </a:p>
        </p:txBody>
      </p:sp>
      <p:sp>
        <p:nvSpPr>
          <p:cNvPr id="226" name="Google Shape;226;p17"/>
          <p:cNvSpPr txBox="1"/>
          <p:nvPr/>
        </p:nvSpPr>
        <p:spPr>
          <a:xfrm>
            <a:off x="9346406" y="5181600"/>
            <a:ext cx="25449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MQTT Auto-Discovery</a:t>
            </a:r>
            <a:endParaRPr sz="2400"/>
          </a:p>
        </p:txBody>
      </p:sp>
      <p:sp>
        <p:nvSpPr>
          <p:cNvPr id="227" name="Google Shape;227;p17"/>
          <p:cNvSpPr txBox="1"/>
          <p:nvPr/>
        </p:nvSpPr>
        <p:spPr>
          <a:xfrm>
            <a:off x="885825" y="2543175"/>
            <a:ext cx="52923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1</a:t>
            </a:r>
            <a:endParaRPr sz="2400" dirty="0"/>
          </a:p>
        </p:txBody>
      </p:sp>
      <p:sp>
        <p:nvSpPr>
          <p:cNvPr id="228" name="Google Shape;228;p17"/>
          <p:cNvSpPr txBox="1"/>
          <p:nvPr/>
        </p:nvSpPr>
        <p:spPr>
          <a:xfrm>
            <a:off x="809625" y="2809875"/>
            <a:ext cx="206159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Auth &amp; Tenant Creation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809625" y="3480054"/>
            <a:ext cx="213121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logs in via 2FA OTP. Creates household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samuel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-land on Single Plan.</a:t>
            </a:r>
            <a:endParaRPr sz="2400" dirty="0">
              <a:solidFill>
                <a:srgbClr val="94A3B8"/>
              </a:solidFill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3731418" y="2543175"/>
            <a:ext cx="5238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2</a:t>
            </a:r>
            <a:endParaRPr sz="2400" dirty="0"/>
          </a:p>
        </p:txBody>
      </p:sp>
      <p:sp>
        <p:nvSpPr>
          <p:cNvPr id="231" name="Google Shape;231;p17"/>
          <p:cNvSpPr txBox="1"/>
          <p:nvPr/>
        </p:nvSpPr>
        <p:spPr>
          <a:xfrm>
            <a:off x="3655218" y="2809875"/>
            <a:ext cx="20323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K8s Auto-Provisioning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3655218" y="3480054"/>
            <a:ext cx="213121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Spawns Home Assistant pod, allocates MQTT channels, and computes HMAC password.</a:t>
            </a:r>
            <a:endParaRPr sz="2400" dirty="0">
              <a:solidFill>
                <a:srgbClr val="94A3B8"/>
              </a:solidFill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6577012" y="2543175"/>
            <a:ext cx="54828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3</a:t>
            </a:r>
            <a:endParaRPr sz="2400" dirty="0"/>
          </a:p>
        </p:txBody>
      </p:sp>
      <p:sp>
        <p:nvSpPr>
          <p:cNvPr id="234" name="Google Shape;234;p17"/>
          <p:cNvSpPr txBox="1"/>
          <p:nvPr/>
        </p:nvSpPr>
        <p:spPr>
          <a:xfrm>
            <a:off x="6500812" y="2809875"/>
            <a:ext cx="203968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Device Registration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35" name="Google Shape;235;p17"/>
          <p:cNvSpPr txBox="1"/>
          <p:nvPr/>
        </p:nvSpPr>
        <p:spPr>
          <a:xfrm>
            <a:off x="6500812" y="3480054"/>
            <a:ext cx="2131218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Registers ESP32 sensor, downloads script auto-configured with EC2 Public IP.</a:t>
            </a:r>
            <a:endParaRPr sz="2400" dirty="0">
              <a:solidFill>
                <a:srgbClr val="94A3B8"/>
              </a:solidFill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9422605" y="2543175"/>
            <a:ext cx="5578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4</a:t>
            </a:r>
            <a:endParaRPr sz="2400" dirty="0"/>
          </a:p>
        </p:txBody>
      </p:sp>
      <p:sp>
        <p:nvSpPr>
          <p:cNvPr id="237" name="Google Shape;237;p17"/>
          <p:cNvSpPr txBox="1"/>
          <p:nvPr/>
        </p:nvSpPr>
        <p:spPr>
          <a:xfrm>
            <a:off x="9346406" y="2809875"/>
            <a:ext cx="203596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Telemetry Fan-Out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9346406" y="3480054"/>
            <a:ext cx="213121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Publishes JSON telemetry over MQTT :1883. Pushes state to HA &amp;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ThingsBoard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2400" dirty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/>
          <p:nvPr/>
        </p:nvSpPr>
        <p:spPr>
          <a:xfrm>
            <a:off x="609600" y="2752725"/>
            <a:ext cx="5372100" cy="3081146"/>
          </a:xfrm>
          <a:prstGeom prst="roundRect">
            <a:avLst>
              <a:gd name="adj" fmla="val 6926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6210300" y="2752724"/>
            <a:ext cx="5372100" cy="3081147"/>
          </a:xfrm>
          <a:prstGeom prst="roundRect">
            <a:avLst>
              <a:gd name="adj" fmla="val 6557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885825" y="3481386"/>
            <a:ext cx="2352675" cy="668953"/>
          </a:xfrm>
          <a:prstGeom prst="roundRect">
            <a:avLst>
              <a:gd name="adj" fmla="val 13333"/>
            </a:avLst>
          </a:prstGeom>
          <a:solidFill>
            <a:srgbClr val="0B192C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3352800" y="3481387"/>
            <a:ext cx="2352675" cy="668952"/>
          </a:xfrm>
          <a:prstGeom prst="roundRect">
            <a:avLst>
              <a:gd name="adj" fmla="val 13333"/>
            </a:avLst>
          </a:prstGeom>
          <a:solidFill>
            <a:srgbClr val="0B192C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885825" y="4276914"/>
            <a:ext cx="2352675" cy="668953"/>
          </a:xfrm>
          <a:prstGeom prst="roundRect">
            <a:avLst>
              <a:gd name="adj" fmla="val 13333"/>
            </a:avLst>
          </a:prstGeom>
          <a:solidFill>
            <a:srgbClr val="0B192C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3352800" y="4276915"/>
            <a:ext cx="2352675" cy="668952"/>
          </a:xfrm>
          <a:prstGeom prst="roundRect">
            <a:avLst>
              <a:gd name="adj" fmla="val 13333"/>
            </a:avLst>
          </a:prstGeom>
          <a:solidFill>
            <a:srgbClr val="0B192C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825" y="31289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6525" y="306705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8"/>
          <p:cNvSpPr txBox="1"/>
          <p:nvPr/>
        </p:nvSpPr>
        <p:spPr>
          <a:xfrm>
            <a:off x="609600" y="457200"/>
            <a:ext cx="11582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NETWORKING &amp; SECURITY</a:t>
            </a:r>
            <a:endParaRPr sz="1800"/>
          </a:p>
        </p:txBody>
      </p:sp>
      <p:sp>
        <p:nvSpPr>
          <p:cNvPr id="252" name="Google Shape;252;p18"/>
          <p:cNvSpPr txBox="1"/>
          <p:nvPr/>
        </p:nvSpPr>
        <p:spPr>
          <a:xfrm>
            <a:off x="609600" y="704850"/>
            <a:ext cx="1158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VPC Network Layout &amp; Multi-Layer Security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609600" y="1209675"/>
            <a:ext cx="1158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perimeter firewall rules paired with in-cluster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microsegmentation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885825" y="3045583"/>
            <a:ext cx="50958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EC2 Security Group Inbound Ports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6486525" y="3028950"/>
            <a:ext cx="50958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Multi-Layer Container Isolation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6486526" y="3419475"/>
            <a:ext cx="481965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AutoNum type="arabicPeriod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K8s Namespace: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Isolated tenant- bounds.</a:t>
            </a:r>
            <a:endParaRPr lang="en-US" sz="1600" dirty="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AutoNum type="arabicPeriod"/>
            </a:pPr>
            <a:r>
              <a:rPr lang="en-US" sz="1600" b="1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NetworkPolicy</a:t>
            </a:r>
            <a:r>
              <a:rPr lang="en-US" sz="1600" b="1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lang="en-US" sz="1600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default-deny-all blocks cross pings.</a:t>
            </a:r>
            <a:endParaRPr lang="en-US" sz="1600" dirty="0">
              <a:solidFill>
                <a:srgbClr val="94A3B8"/>
              </a:solidFill>
              <a:ea typeface="Plus Jakarta Sans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AutoNum type="arabicPeriod"/>
            </a:pPr>
            <a:r>
              <a:rPr lang="en-US" sz="1600" b="1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ResourceQuota</a:t>
            </a:r>
            <a:r>
              <a:rPr lang="en-US" sz="1600" b="1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lang="en-US" sz="1600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Capped at 1Gi RAM &amp; 3 pods max.</a:t>
            </a:r>
            <a:endParaRPr lang="en-US" sz="1600" dirty="0">
              <a:solidFill>
                <a:srgbClr val="94A3B8"/>
              </a:solidFill>
              <a:ea typeface="Plus Jakarta Sans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AutoNum type="arabicPeriod"/>
            </a:pPr>
            <a:r>
              <a:rPr lang="en-US" sz="1600" b="1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CSRF Protection:</a:t>
            </a:r>
            <a:r>
              <a:rPr lang="en-US" sz="1600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Double-submit cookie header verification.</a:t>
            </a:r>
            <a:endParaRPr lang="en-US" sz="1600" dirty="0">
              <a:solidFill>
                <a:srgbClr val="94A3B8"/>
              </a:solidFill>
              <a:ea typeface="Plus Jakarta Sans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AutoNum type="arabicPeriod"/>
            </a:pPr>
            <a:r>
              <a:rPr lang="en-US" sz="1600" b="1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 Headers:</a:t>
            </a:r>
            <a:r>
              <a:rPr lang="en-US" sz="1600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Strict Content-Security-Policy (CSP).</a:t>
            </a:r>
            <a:endParaRPr lang="en-US" sz="1600" dirty="0">
              <a:solidFill>
                <a:srgbClr val="94A3B8"/>
              </a:solidFill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1009650" y="3605212"/>
            <a:ext cx="26312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TCP 3000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1009650" y="3858958"/>
            <a:ext cx="26312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 Portal &amp; Gateway</a:t>
            </a:r>
            <a:endParaRPr sz="2400" dirty="0">
              <a:solidFill>
                <a:srgbClr val="94A3B8"/>
              </a:solidFill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3476625" y="3605212"/>
            <a:ext cx="26312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TCP 8123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3476625" y="3858958"/>
            <a:ext cx="26312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Home Assistant UI</a:t>
            </a:r>
            <a:endParaRPr sz="2400" dirty="0">
              <a:solidFill>
                <a:srgbClr val="94A3B8"/>
              </a:solidFill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1009650" y="4400740"/>
            <a:ext cx="26312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TCP 8080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1009649" y="4654390"/>
            <a:ext cx="26312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ThingsBoard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Dashboard</a:t>
            </a:r>
            <a:endParaRPr sz="2400" dirty="0">
              <a:solidFill>
                <a:srgbClr val="94A3B8"/>
              </a:solidFill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3476625" y="4400740"/>
            <a:ext cx="26312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TCP 1883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3467100" y="4654390"/>
            <a:ext cx="26312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MQTT Broker Traffic</a:t>
            </a:r>
            <a:endParaRPr sz="2400" dirty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/>
          <p:nvPr/>
        </p:nvSpPr>
        <p:spPr>
          <a:xfrm>
            <a:off x="609600" y="2838450"/>
            <a:ext cx="3505200" cy="2721102"/>
          </a:xfrm>
          <a:prstGeom prst="roundRect">
            <a:avLst>
              <a:gd name="adj" fmla="val 7079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4343400" y="2838450"/>
            <a:ext cx="3505200" cy="2721102"/>
          </a:xfrm>
          <a:prstGeom prst="roundRect">
            <a:avLst>
              <a:gd name="adj" fmla="val 7079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8077200" y="2838451"/>
            <a:ext cx="3505200" cy="2721102"/>
          </a:xfrm>
          <a:prstGeom prst="roundRect">
            <a:avLst>
              <a:gd name="adj" fmla="val 7804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609600" y="457200"/>
            <a:ext cx="11582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IDENTITY &amp; ACCESS MANAGEMENT</a:t>
            </a:r>
            <a:endParaRPr sz="1800"/>
          </a:p>
        </p:txBody>
      </p:sp>
      <p:sp>
        <p:nvSpPr>
          <p:cNvPr id="277" name="Google Shape;277;p19"/>
          <p:cNvSpPr txBox="1"/>
          <p:nvPr/>
        </p:nvSpPr>
        <p:spPr>
          <a:xfrm>
            <a:off x="609600" y="704850"/>
            <a:ext cx="1158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Multi-Layer RBAC &amp; Least-Privilege IAM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609600" y="1209675"/>
            <a:ext cx="1158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Granular control spanning Kubernetes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ServiceAccounts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household roles, and device tokens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739521" y="3114675"/>
            <a:ext cx="369093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K8S CLUSTER RBAC</a:t>
            </a:r>
            <a:endParaRPr sz="1800" dirty="0"/>
          </a:p>
        </p:txBody>
      </p:sp>
      <p:sp>
        <p:nvSpPr>
          <p:cNvPr id="280" name="Google Shape;280;p19"/>
          <p:cNvSpPr txBox="1"/>
          <p:nvPr/>
        </p:nvSpPr>
        <p:spPr>
          <a:xfrm>
            <a:off x="739521" y="3362325"/>
            <a:ext cx="387548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ServiceAccount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Token Scope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739521" y="3714750"/>
            <a:ext cx="3048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Only provisioning-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mounts a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ServiceAccount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token to manage namespaces. All other pods set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automountServiceAccountToken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false.</a:t>
            </a:r>
            <a:endParaRPr sz="1800" dirty="0">
              <a:solidFill>
                <a:srgbClr val="94A3B8"/>
              </a:solidFill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4473321" y="3114675"/>
            <a:ext cx="369093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HOUSEHOLD APP RBAC</a:t>
            </a:r>
            <a:endParaRPr sz="1800"/>
          </a:p>
        </p:txBody>
      </p:sp>
      <p:sp>
        <p:nvSpPr>
          <p:cNvPr id="283" name="Google Shape;283;p19"/>
          <p:cNvSpPr txBox="1"/>
          <p:nvPr/>
        </p:nvSpPr>
        <p:spPr>
          <a:xfrm>
            <a:off x="4473321" y="3362325"/>
            <a:ext cx="387548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Owner, Admin &amp; Member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4473321" y="3714750"/>
            <a:ext cx="3048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Middlewares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enforce role permissions. Only household owners can change subscription plans or delete environments. Last owner cannot be removed.</a:t>
            </a:r>
            <a:endParaRPr sz="1800" dirty="0">
              <a:solidFill>
                <a:srgbClr val="94A3B8"/>
              </a:solidFill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8207121" y="3214687"/>
            <a:ext cx="369093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IOT DEVICE IAM</a:t>
            </a:r>
            <a:endParaRPr sz="1800"/>
          </a:p>
        </p:txBody>
      </p:sp>
      <p:sp>
        <p:nvSpPr>
          <p:cNvPr id="286" name="Google Shape;286;p19"/>
          <p:cNvSpPr txBox="1"/>
          <p:nvPr/>
        </p:nvSpPr>
        <p:spPr>
          <a:xfrm>
            <a:off x="8207121" y="3462337"/>
            <a:ext cx="3838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Bcrypt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Device Secrets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8207121" y="3814762"/>
            <a:ext cx="3048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Secrets are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bcrypt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-hashed in DB and shown only once. Instant revocation switches device status to revoked, rejecting subsequent MQTT messages.</a:t>
            </a:r>
            <a:endParaRPr sz="1800" dirty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"/>
          <p:cNvSpPr/>
          <p:nvPr/>
        </p:nvSpPr>
        <p:spPr>
          <a:xfrm>
            <a:off x="609600" y="2555617"/>
            <a:ext cx="5372100" cy="2930021"/>
          </a:xfrm>
          <a:prstGeom prst="roundRect">
            <a:avLst>
              <a:gd name="adj" fmla="val 7333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6210300" y="2574667"/>
            <a:ext cx="5372100" cy="2930021"/>
          </a:xfrm>
          <a:prstGeom prst="roundRect">
            <a:avLst>
              <a:gd name="adj" fmla="val 7470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609600" y="457200"/>
            <a:ext cx="11582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LOAD BALANCING &amp; DATA</a:t>
            </a:r>
            <a:endParaRPr sz="1800"/>
          </a:p>
        </p:txBody>
      </p:sp>
      <p:sp>
        <p:nvSpPr>
          <p:cNvPr id="295" name="Google Shape;295;p20"/>
          <p:cNvSpPr txBox="1"/>
          <p:nvPr/>
        </p:nvSpPr>
        <p:spPr>
          <a:xfrm>
            <a:off x="609600" y="704850"/>
            <a:ext cx="1158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Traefik</a:t>
            </a:r>
            <a:r>
              <a:rPr lang="en-US" sz="3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Ingress Gateway &amp; Connection Pooling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609600" y="1209675"/>
            <a:ext cx="1158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Path-based ingress routing and database multiplexing with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PgBouncer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885825" y="2831842"/>
            <a:ext cx="632579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Traefik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Ingress Path Rules (:80)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885825" y="3222367"/>
            <a:ext cx="49149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/v1/auth, /v1/me → </a:t>
            </a: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identity-service:3001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/devices → </a:t>
            </a: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iot-broker-service:3004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/v1/tenants, / → </a:t>
            </a: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provisioning-api:3000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.domain → </a:t>
            </a: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tenant HA Service:8123</a:t>
            </a:r>
            <a:endParaRPr sz="1800" dirty="0">
              <a:solidFill>
                <a:srgbClr val="94A3B8"/>
              </a:solidFill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6486525" y="2831842"/>
            <a:ext cx="57054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 Connection Pooling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6486525" y="3222367"/>
            <a:ext cx="491490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SQLite WAL Mode: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Concurrent reads/writes for Portal DB.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PgBouncer</a:t>
            </a: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Pooler: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Limits client DB connections.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 Client Conns: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200 client pods multiplexed.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Default Pool Size: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Scaled down to 20 DB connections.</a:t>
            </a:r>
            <a:endParaRPr lang="en-US" sz="1800" dirty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"/>
          <p:cNvSpPr/>
          <p:nvPr/>
        </p:nvSpPr>
        <p:spPr>
          <a:xfrm>
            <a:off x="609600" y="2680144"/>
            <a:ext cx="3505200" cy="2541079"/>
          </a:xfrm>
          <a:prstGeom prst="roundRect">
            <a:avLst>
              <a:gd name="adj" fmla="val 7373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4343400" y="2689669"/>
            <a:ext cx="3505200" cy="2531554"/>
          </a:xfrm>
          <a:prstGeom prst="roundRect">
            <a:avLst>
              <a:gd name="adj" fmla="val 7441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8077200" y="2684906"/>
            <a:ext cx="3505200" cy="2536317"/>
          </a:xfrm>
          <a:prstGeom prst="roundRect">
            <a:avLst>
              <a:gd name="adj" fmla="val 7407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609600" y="457200"/>
            <a:ext cx="11582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AUTOSCALING &amp; ELASTICITY</a:t>
            </a:r>
            <a:endParaRPr sz="1800"/>
          </a:p>
        </p:txBody>
      </p:sp>
      <p:sp>
        <p:nvSpPr>
          <p:cNvPr id="309" name="Google Shape;309;p21"/>
          <p:cNvSpPr txBox="1"/>
          <p:nvPr/>
        </p:nvSpPr>
        <p:spPr>
          <a:xfrm>
            <a:off x="609600" y="704850"/>
            <a:ext cx="1158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Kubernetes HPA &amp; Self-Healing Pods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609600" y="1209675"/>
            <a:ext cx="1158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scaling between 2 and 5 replicas triggered by 70% CPU threshold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885825" y="2956369"/>
            <a:ext cx="36909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C7293"/>
                </a:solidFill>
                <a:latin typeface="Space Grotesk"/>
                <a:ea typeface="Space Grotesk"/>
                <a:cs typeface="Space Grotesk"/>
                <a:sym typeface="Space Grotesk"/>
              </a:rPr>
              <a:t>2 → 5</a:t>
            </a:r>
            <a:endParaRPr dirty="0"/>
          </a:p>
        </p:txBody>
      </p:sp>
      <p:sp>
        <p:nvSpPr>
          <p:cNvPr id="312" name="Google Shape;312;p21"/>
          <p:cNvSpPr txBox="1"/>
          <p:nvPr/>
        </p:nvSpPr>
        <p:spPr>
          <a:xfrm>
            <a:off x="885825" y="3609592"/>
            <a:ext cx="36909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Stateless Pod Scaling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885825" y="3953927"/>
            <a:ext cx="3048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HPA scales identity,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iot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-broker, and provisioning pods in 2–5 seconds during traffic bursts.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4619625" y="2965894"/>
            <a:ext cx="36909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70%</a:t>
            </a:r>
            <a:endParaRPr dirty="0"/>
          </a:p>
        </p:txBody>
      </p:sp>
      <p:sp>
        <p:nvSpPr>
          <p:cNvPr id="315" name="Google Shape;315;p21"/>
          <p:cNvSpPr txBox="1"/>
          <p:nvPr/>
        </p:nvSpPr>
        <p:spPr>
          <a:xfrm>
            <a:off x="4619624" y="3594157"/>
            <a:ext cx="36909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CPU Target Threshold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4619625" y="3918394"/>
            <a:ext cx="3048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Triggers scale-out event when average CPU utilization across active replicas exceeds 70% of requested allocation.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8353425" y="2961132"/>
            <a:ext cx="36909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D9488"/>
                </a:solidFill>
                <a:latin typeface="Space Grotesk"/>
                <a:ea typeface="Space Grotesk"/>
                <a:cs typeface="Space Grotesk"/>
                <a:sym typeface="Space Grotesk"/>
              </a:rPr>
              <a:t>1 Pod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8353423" y="3606164"/>
            <a:ext cx="36909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Stateful Pinning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8353423" y="3958689"/>
            <a:ext cx="3048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tb-bridge and Home Assistant are pinned to 1 replica to prevent duplicate MQTT messages and DB locks.</a:t>
            </a:r>
            <a:endParaRPr sz="2000" dirty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"/>
          <p:cNvSpPr/>
          <p:nvPr/>
        </p:nvSpPr>
        <p:spPr>
          <a:xfrm>
            <a:off x="609600" y="2428363"/>
            <a:ext cx="5372100" cy="3219961"/>
          </a:xfrm>
          <a:prstGeom prst="roundRect">
            <a:avLst>
              <a:gd name="adj" fmla="val 7470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6210300" y="2423599"/>
            <a:ext cx="5372100" cy="3224725"/>
          </a:xfrm>
          <a:prstGeom prst="roundRect">
            <a:avLst>
              <a:gd name="adj" fmla="val 7435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825" y="2742688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6525" y="273792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2"/>
          <p:cNvSpPr txBox="1"/>
          <p:nvPr/>
        </p:nvSpPr>
        <p:spPr>
          <a:xfrm>
            <a:off x="609600" y="457200"/>
            <a:ext cx="11582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STORAGE &amp; IMAGES</a:t>
            </a:r>
            <a:endParaRPr sz="1800"/>
          </a:p>
        </p:txBody>
      </p:sp>
      <p:sp>
        <p:nvSpPr>
          <p:cNvPr id="329" name="Google Shape;329;p22"/>
          <p:cNvSpPr txBox="1"/>
          <p:nvPr/>
        </p:nvSpPr>
        <p:spPr>
          <a:xfrm>
            <a:off x="609600" y="704850"/>
            <a:ext cx="1158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Persistent Storage &amp; Multi-Stage Docker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609600" y="1209675"/>
            <a:ext cx="1158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EBS block volume backing and optimized Alpine container builds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885825" y="2704588"/>
            <a:ext cx="632579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Block Storage (Zero S3 Dependence)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885825" y="3095113"/>
            <a:ext cx="4914900" cy="23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EBS gp3 Volumes: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Low-latency POSIX disk I/O.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SQLite WAL Mode: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Atomic transactions for Portal DB.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PostgreSQL PVCs: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1Gi for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Magistrala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2Gi for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ThingsBoard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Pre-seeded Docker Volume: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Auto-bypasses HA wizard.</a:t>
            </a:r>
            <a:endParaRPr sz="1800" dirty="0">
              <a:solidFill>
                <a:srgbClr val="94A3B8"/>
              </a:solidFill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6486525" y="2699825"/>
            <a:ext cx="57054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Multi-Stage Alpine Builds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6486525" y="3090350"/>
            <a:ext cx="4914900" cy="23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1 (Builder):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Compiles C++ bindings (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bcrypt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/sqlite3).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2 (Runtime):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Clean node:20-alpine runtime image.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Attack Surface Reduction: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Excludes g++ and python3.</a:t>
            </a:r>
            <a:endParaRPr lang="en-US" sz="2400" dirty="0">
              <a:solidFill>
                <a:srgbClr val="94A3B8"/>
              </a:solidFill>
              <a:latin typeface="Calibri"/>
              <a:ea typeface="Plus Jakarta Sans"/>
              <a:cs typeface="Calibri"/>
              <a:sym typeface="Calibri"/>
            </a:endParaRPr>
          </a:p>
          <a:p>
            <a:pPr marL="265113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Sizes: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Kept lightweight under 150 MB per service.</a:t>
            </a:r>
            <a:endParaRPr sz="1800" dirty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/>
          <p:nvPr/>
        </p:nvSpPr>
        <p:spPr>
          <a:xfrm>
            <a:off x="609600" y="2874644"/>
            <a:ext cx="3530649" cy="2136267"/>
          </a:xfrm>
          <a:prstGeom prst="roundRect">
            <a:avLst>
              <a:gd name="adj" fmla="val 6666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4330749" y="2874645"/>
            <a:ext cx="3530649" cy="2136266"/>
          </a:xfrm>
          <a:prstGeom prst="roundRect">
            <a:avLst>
              <a:gd name="adj" fmla="val 6666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8051899" y="2865120"/>
            <a:ext cx="3530649" cy="2136266"/>
          </a:xfrm>
          <a:prstGeom prst="roundRect">
            <a:avLst>
              <a:gd name="adj" fmla="val 6593"/>
            </a:avLst>
          </a:prstGeom>
          <a:solidFill>
            <a:srgbClr val="172537"/>
          </a:solidFill>
          <a:ln w="9525" cap="flat" cmpd="sng">
            <a:solidFill>
              <a:srgbClr val="2330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315087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8874" y="315087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90024" y="314134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3"/>
          <p:cNvSpPr txBox="1"/>
          <p:nvPr/>
        </p:nvSpPr>
        <p:spPr>
          <a:xfrm>
            <a:off x="609600" y="457200"/>
            <a:ext cx="11582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OBSERVABILITY &amp; HEALTH</a:t>
            </a:r>
            <a:endParaRPr sz="1800"/>
          </a:p>
        </p:txBody>
      </p:sp>
      <p:sp>
        <p:nvSpPr>
          <p:cNvPr id="346" name="Google Shape;346;p23"/>
          <p:cNvSpPr txBox="1"/>
          <p:nvPr/>
        </p:nvSpPr>
        <p:spPr>
          <a:xfrm>
            <a:off x="609600" y="704850"/>
            <a:ext cx="1158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Fleet Observability &amp; Liveness Probes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609600" y="1209675"/>
            <a:ext cx="1158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Centralized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ThingsBoard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telemetry, structured Winston JSON logs, and K8s readiness checks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348" name="Google Shape;348;p23"/>
          <p:cNvSpPr txBox="1"/>
          <p:nvPr/>
        </p:nvSpPr>
        <p:spPr>
          <a:xfrm>
            <a:off x="847725" y="3512820"/>
            <a:ext cx="4008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ThingsBoard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CE (:8080)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49" name="Google Shape;349;p23"/>
          <p:cNvSpPr txBox="1"/>
          <p:nvPr/>
        </p:nvSpPr>
        <p:spPr>
          <a:xfrm>
            <a:off x="847725" y="3808095"/>
            <a:ext cx="314964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Platform admins monitor timeseries charts for all tenant devices in real time over Gateway MQTT (:1884).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4568874" y="3512820"/>
            <a:ext cx="4008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Winston Logs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4568874" y="3808095"/>
            <a:ext cx="314964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 microservice emits JSON logs capturing HTTP met</a:t>
            </a:r>
            <a:r>
              <a:rPr lang="en-US" sz="1600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hod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path, status, and durations for rapid</a:t>
            </a:r>
            <a:r>
              <a:rPr lang="en-US" sz="1600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debugging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2000" dirty="0">
              <a:solidFill>
                <a:srgbClr val="94A3B8"/>
              </a:solidFill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8290024" y="3503295"/>
            <a:ext cx="39019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K8s Liveness &amp; Readiness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8290024" y="3798570"/>
            <a:ext cx="314964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Probes test GET /health and execute SELECT 1 DB checks before routing live traffic.</a:t>
            </a:r>
            <a:endParaRPr sz="2000" dirty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0" name="Google Shape;360;p24"/>
          <p:cNvGraphicFramePr/>
          <p:nvPr>
            <p:extLst>
              <p:ext uri="{D42A27DB-BD31-4B8C-83A1-F6EECF244321}">
                <p14:modId xmlns:p14="http://schemas.microsoft.com/office/powerpoint/2010/main" val="3480534558"/>
              </p:ext>
            </p:extLst>
          </p:nvPr>
        </p:nvGraphicFramePr>
        <p:xfrm>
          <a:off x="1574292" y="4248149"/>
          <a:ext cx="9653016" cy="1905000"/>
        </p:xfrm>
        <a:graphic>
          <a:graphicData uri="http://schemas.openxmlformats.org/drawingml/2006/table">
            <a:tbl>
              <a:tblPr>
                <a:noFill/>
                <a:tableStyleId>{51D97887-567D-4FD6-AB8E-D817F6A3626F}</a:tableStyleId>
              </a:tblPr>
              <a:tblGrid>
                <a:gridCol w="2635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1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6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bg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Component</a:t>
                      </a:r>
                      <a:endParaRPr sz="20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AWS Managed Baseline</a:t>
                      </a:r>
                      <a:endParaRPr sz="2000" dirty="0">
                        <a:solidFill>
                          <a:srgbClr val="94A3B8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B4D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The-SIFT Optimized Design</a:t>
                      </a:r>
                      <a:endParaRPr sz="2000" dirty="0">
                        <a:solidFill>
                          <a:srgbClr val="00B4D8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bg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K8s Control Plane</a:t>
                      </a:r>
                      <a:endParaRPr sz="20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$73.00 / </a:t>
                      </a:r>
                      <a:r>
                        <a:rPr lang="en-US" sz="1600" b="0" i="0" u="none" strike="noStrike" cap="none" dirty="0" err="1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</a:t>
                      </a:r>
                      <a:r>
                        <a:rPr lang="en-US" sz="1600" b="0" i="0" u="none" strike="noStrike" cap="none" dirty="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(AWS EKS)</a:t>
                      </a:r>
                      <a:endParaRPr sz="2000" b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$0.00 / </a:t>
                      </a:r>
                      <a:r>
                        <a:rPr lang="en-US" sz="1600" b="0" i="0" u="none" strike="noStrike" cap="none" dirty="0" err="1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</a:t>
                      </a:r>
                      <a:r>
                        <a:rPr lang="en-US" sz="1600" b="0" i="0" u="none" strike="noStrike" cap="none" dirty="0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(Self-managed K3s)</a:t>
                      </a:r>
                      <a:endParaRPr sz="2000" b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bg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Database Engine</a:t>
                      </a:r>
                      <a:endParaRPr sz="20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DC2626"/>
                          </a:solidFill>
                          <a:latin typeface="Plus Jakarta Sans"/>
                        </a:rPr>
                        <a:t>$29.42 / mo (2 × RDS)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$16.00 / </a:t>
                      </a:r>
                      <a:r>
                        <a:rPr lang="en-US" sz="1600" b="0" i="0" u="none" strike="noStrike" cap="none" dirty="0" err="1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</a:t>
                      </a:r>
                      <a:r>
                        <a:rPr lang="en-US" sz="1600" b="0" i="0" u="none" strike="noStrike" cap="none" dirty="0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(In-cluster EBS PVCs)</a:t>
                      </a:r>
                      <a:endParaRPr sz="2000" b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bg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Load Balancer</a:t>
                      </a:r>
                      <a:endParaRPr sz="20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$55.27 / </a:t>
                      </a:r>
                      <a:r>
                        <a:rPr lang="en-US" sz="1600" b="0" i="0" u="none" strike="noStrike" cap="none" dirty="0" err="1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</a:t>
                      </a:r>
                      <a:r>
                        <a:rPr lang="en-US" sz="1600" b="0" i="0" u="none" strike="noStrike" cap="none" dirty="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(ALB + NAT)</a:t>
                      </a:r>
                      <a:endParaRPr sz="2000" b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$26.97 / </a:t>
                      </a:r>
                      <a:r>
                        <a:rPr lang="en-US" sz="1600" b="0" i="0" u="none" strike="noStrike" cap="none" dirty="0" err="1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</a:t>
                      </a:r>
                      <a:r>
                        <a:rPr lang="en-US" sz="1600" b="0" i="0" u="none" strike="noStrike" cap="none" dirty="0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</a:t>
                      </a:r>
                      <a:r>
                        <a:rPr lang="en-US" sz="1600" b="0" i="0" u="none" strike="noStrike" cap="none" dirty="0" err="1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Traefik</a:t>
                      </a:r>
                      <a:r>
                        <a:rPr lang="en-US" sz="1600" b="0" i="0" u="none" strike="noStrike" cap="none" dirty="0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Ingress)</a:t>
                      </a:r>
                      <a:endParaRPr sz="2000" b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600" b="1">
                          <a:latin typeface="Plus Jakarta Sans"/>
                        </a:rPr>
                        <a:t>2 × t3.large Compute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bg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$121.47 / </a:t>
                      </a:r>
                      <a:r>
                        <a:rPr lang="en-US" sz="1600" b="0" i="0" u="none" strike="noStrike" cap="none" dirty="0" err="1">
                          <a:solidFill>
                            <a:schemeClr val="bg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</a:t>
                      </a:r>
                      <a:endParaRPr sz="2000" b="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bg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$121.48 / </a:t>
                      </a:r>
                      <a:r>
                        <a:rPr lang="en-US" sz="1600" b="0" i="0" u="none" strike="noStrike" cap="none" dirty="0" err="1">
                          <a:solidFill>
                            <a:schemeClr val="bg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</a:t>
                      </a:r>
                      <a:r>
                        <a:rPr lang="en-US" sz="1600" b="0" i="0" u="none" strike="noStrike" cap="none" dirty="0">
                          <a:solidFill>
                            <a:schemeClr val="bg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(Shared nodes)</a:t>
                      </a:r>
                      <a:endParaRPr sz="2000" b="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600" b="1">
                          <a:latin typeface="Plus Jakarta Sans"/>
                        </a:rPr>
                        <a:t>IPv4 &amp; Root Storage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DC2626"/>
                          </a:solidFill>
                          <a:latin typeface="Plus Jakarta Sans"/>
                        </a:rPr>
                        <a:t>$14.15 / mo (3 IPs + EBS)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6A34A"/>
                          </a:solidFill>
                          <a:latin typeface="Plus Jakarta Sans"/>
                        </a:rPr>
                        <a:t>$10.50 / mo (2 IPs + EBS)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1" name="Google Shape;361;p24"/>
          <p:cNvSpPr txBox="1"/>
          <p:nvPr/>
        </p:nvSpPr>
        <p:spPr>
          <a:xfrm>
            <a:off x="609600" y="457200"/>
            <a:ext cx="11582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C729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 ESTIMATE</a:t>
            </a:r>
            <a:endParaRPr sz="1800" dirty="0"/>
          </a:p>
        </p:txBody>
      </p:sp>
      <p:sp>
        <p:nvSpPr>
          <p:cNvPr id="362" name="Google Shape;362;p24"/>
          <p:cNvSpPr txBox="1"/>
          <p:nvPr/>
        </p:nvSpPr>
        <p:spPr>
          <a:xfrm>
            <a:off x="609600" y="704850"/>
            <a:ext cx="1158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40% Cost Reduction vs. Managed Baseline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363" name="Google Shape;363;p24"/>
          <p:cNvSpPr txBox="1"/>
          <p:nvPr/>
        </p:nvSpPr>
        <p:spPr>
          <a:xfrm>
            <a:off x="609600" y="1209675"/>
            <a:ext cx="1158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Replacing EKS, RDS, and ALB with self-managed K3s on shared EC2 nodes</a:t>
            </a:r>
            <a:endParaRPr sz="2000" dirty="0">
              <a:solidFill>
                <a:srgbClr val="94A3B8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750BB6D-83C5-CC0C-44AF-5CEE5B2BAEDF}"/>
              </a:ext>
            </a:extLst>
          </p:cNvPr>
          <p:cNvGrpSpPr/>
          <p:nvPr/>
        </p:nvGrpSpPr>
        <p:grpSpPr>
          <a:xfrm>
            <a:off x="4279106" y="1942629"/>
            <a:ext cx="3633788" cy="1849565"/>
            <a:chOff x="609600" y="3155092"/>
            <a:chExt cx="3633788" cy="1849565"/>
          </a:xfrm>
        </p:grpSpPr>
        <p:sp>
          <p:nvSpPr>
            <p:cNvPr id="358" name="Google Shape;358;p24"/>
            <p:cNvSpPr/>
            <p:nvPr/>
          </p:nvSpPr>
          <p:spPr>
            <a:xfrm>
              <a:off x="609600" y="3155092"/>
              <a:ext cx="3633787" cy="1849565"/>
            </a:xfrm>
            <a:prstGeom prst="roundRect">
              <a:avLst>
                <a:gd name="adj" fmla="val 6808"/>
              </a:avLst>
            </a:prstGeom>
            <a:solidFill>
              <a:srgbClr val="172537"/>
            </a:solidFill>
            <a:ln w="9525" cap="flat" cmpd="sng">
              <a:solidFill>
                <a:srgbClr val="23304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59" name="Google Shape;359;p24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5826" y="4539646"/>
              <a:ext cx="104775" cy="142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24"/>
            <p:cNvSpPr txBox="1"/>
            <p:nvPr/>
          </p:nvSpPr>
          <p:spPr>
            <a:xfrm>
              <a:off x="885826" y="3431317"/>
              <a:ext cx="3357562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MONTHLY 24/7 RUNNING COST</a:t>
              </a:r>
              <a:endParaRPr sz="2400" dirty="0">
                <a:solidFill>
                  <a:srgbClr val="94A3B8"/>
                </a:solidFill>
              </a:endParaRPr>
            </a:p>
          </p:txBody>
        </p:sp>
        <p:sp>
          <p:nvSpPr>
            <p:cNvPr id="365" name="Google Shape;365;p24"/>
            <p:cNvSpPr txBox="1"/>
            <p:nvPr/>
          </p:nvSpPr>
          <p:spPr>
            <a:xfrm>
              <a:off x="885826" y="3717067"/>
              <a:ext cx="33575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 i="0" u="none" strike="noStrike" cap="none" dirty="0">
                  <a:solidFill>
                    <a:srgbClr val="00B4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~$174.95</a:t>
              </a:r>
              <a:endParaRPr sz="2000" dirty="0">
                <a:solidFill>
                  <a:srgbClr val="00B4D8"/>
                </a:solidFill>
              </a:endParaRPr>
            </a:p>
          </p:txBody>
        </p:sp>
        <p:sp>
          <p:nvSpPr>
            <p:cNvPr id="366" name="Google Shape;366;p24"/>
            <p:cNvSpPr txBox="1"/>
            <p:nvPr/>
          </p:nvSpPr>
          <p:spPr>
            <a:xfrm>
              <a:off x="885826" y="4511071"/>
              <a:ext cx="3357562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16A3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40% Savings ($118/</a:t>
              </a:r>
              <a:r>
                <a:rPr lang="en-US" sz="1600" b="1" i="0" u="none" strike="noStrike" cap="none" dirty="0" err="1">
                  <a:solidFill>
                    <a:srgbClr val="16A3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mo</a:t>
              </a:r>
              <a:r>
                <a:rPr lang="en-US" sz="1600" b="1" i="0" u="none" strike="noStrike" cap="none" dirty="0">
                  <a:solidFill>
                    <a:srgbClr val="16A3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saved)</a:t>
              </a:r>
              <a:endParaRPr sz="20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E6E48F9-BCA6-C7A5-2401-A24B513B5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>
            <a:extLst>
              <a:ext uri="{FF2B5EF4-FFF2-40B4-BE49-F238E27FC236}">
                <a16:creationId xmlns:a16="http://schemas.microsoft.com/office/drawing/2014/main" id="{3CC32AB1-6F51-A1B2-31E2-BD1A40DB75AF}"/>
              </a:ext>
            </a:extLst>
          </p:cNvPr>
          <p:cNvSpPr txBox="1"/>
          <p:nvPr/>
        </p:nvSpPr>
        <p:spPr>
          <a:xfrm>
            <a:off x="609600" y="852869"/>
            <a:ext cx="10972800" cy="270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0000"/>
              </a:lnSpc>
            </a:pPr>
            <a:r>
              <a:rPr lang="en-US" sz="8000" b="1" dirty="0">
                <a:solidFill>
                  <a:srgbClr val="00B4D8"/>
                </a:solidFill>
                <a:latin typeface="Space Grotesk"/>
                <a:ea typeface="Space Grotesk"/>
                <a:cs typeface="Space Grotesk"/>
                <a:sym typeface="Space Grotesk"/>
              </a:rPr>
              <a:t>T</a:t>
            </a:r>
            <a:r>
              <a:rPr lang="en-US" sz="5400" b="1" dirty="0">
                <a:solidFill>
                  <a:srgbClr val="00B4D8"/>
                </a:solidFill>
                <a:latin typeface="Space Grotesk"/>
                <a:ea typeface="Space Grotesk"/>
                <a:cs typeface="Space Grotesk"/>
                <a:sym typeface="Space Grotesk"/>
              </a:rPr>
              <a:t>HANK</a:t>
            </a:r>
            <a:endParaRPr lang="en-US" sz="8000" b="1" i="0" u="none" strike="noStrike" cap="none" dirty="0">
              <a:solidFill>
                <a:srgbClr val="00B4D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rgbClr val="00B4D8"/>
                </a:solidFill>
                <a:latin typeface="Space Grotesk"/>
                <a:cs typeface="Space Grotesk"/>
                <a:sym typeface="Space Grotesk"/>
              </a:rPr>
              <a:t>Y</a:t>
            </a:r>
            <a:r>
              <a:rPr lang="en-US" sz="5400" b="1" dirty="0">
                <a:solidFill>
                  <a:srgbClr val="00B4D8"/>
                </a:solidFill>
                <a:latin typeface="Space Grotesk"/>
                <a:cs typeface="Space Grotesk"/>
                <a:sym typeface="Space Grotesk"/>
              </a:rPr>
              <a:t>OU</a:t>
            </a:r>
            <a:endParaRPr sz="8000" dirty="0">
              <a:solidFill>
                <a:srgbClr val="00B4D8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D0A80C-10E2-8DBA-41DB-105883B349E1}"/>
              </a:ext>
            </a:extLst>
          </p:cNvPr>
          <p:cNvGrpSpPr/>
          <p:nvPr/>
        </p:nvGrpSpPr>
        <p:grpSpPr>
          <a:xfrm>
            <a:off x="609600" y="4362942"/>
            <a:ext cx="10972800" cy="1642189"/>
            <a:chOff x="2505456" y="4550331"/>
            <a:chExt cx="7287768" cy="1210389"/>
          </a:xfrm>
        </p:grpSpPr>
        <p:sp>
          <p:nvSpPr>
            <p:cNvPr id="84" name="Google Shape;84;p13">
              <a:extLst>
                <a:ext uri="{FF2B5EF4-FFF2-40B4-BE49-F238E27FC236}">
                  <a16:creationId xmlns:a16="http://schemas.microsoft.com/office/drawing/2014/main" id="{CBD276AF-94FC-1B6E-72EF-3E82C44C262B}"/>
                </a:ext>
              </a:extLst>
            </p:cNvPr>
            <p:cNvSpPr/>
            <p:nvPr/>
          </p:nvSpPr>
          <p:spPr>
            <a:xfrm>
              <a:off x="2505456" y="4550331"/>
              <a:ext cx="7287768" cy="1210389"/>
            </a:xfrm>
            <a:prstGeom prst="roundRect">
              <a:avLst>
                <a:gd name="adj" fmla="val 7500"/>
              </a:avLst>
            </a:prstGeom>
            <a:solidFill>
              <a:srgbClr val="172537"/>
            </a:solidFill>
            <a:ln w="9525" cap="flat" cmpd="sng">
              <a:solidFill>
                <a:srgbClr val="23304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3">
              <a:extLst>
                <a:ext uri="{FF2B5EF4-FFF2-40B4-BE49-F238E27FC236}">
                  <a16:creationId xmlns:a16="http://schemas.microsoft.com/office/drawing/2014/main" id="{68BF10A7-66B7-023D-62DD-779D5739D00B}"/>
                </a:ext>
              </a:extLst>
            </p:cNvPr>
            <p:cNvSpPr txBox="1"/>
            <p:nvPr/>
          </p:nvSpPr>
          <p:spPr>
            <a:xfrm>
              <a:off x="2752344" y="4709910"/>
              <a:ext cx="3721608" cy="408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 dirty="0">
                  <a:solidFill>
                    <a:srgbClr val="1C729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Shreyash Vaigankar</a:t>
              </a:r>
              <a:endParaRPr sz="4000" dirty="0">
                <a:solidFill>
                  <a:srgbClr val="1C7293"/>
                </a:solidFill>
              </a:endParaRPr>
            </a:p>
          </p:txBody>
        </p:sp>
        <p:sp>
          <p:nvSpPr>
            <p:cNvPr id="101" name="Google Shape;101;p13">
              <a:extLst>
                <a:ext uri="{FF2B5EF4-FFF2-40B4-BE49-F238E27FC236}">
                  <a16:creationId xmlns:a16="http://schemas.microsoft.com/office/drawing/2014/main" id="{7160DAC6-292A-9896-CBE0-89680E3DCDCB}"/>
                </a:ext>
              </a:extLst>
            </p:cNvPr>
            <p:cNvSpPr txBox="1"/>
            <p:nvPr/>
          </p:nvSpPr>
          <p:spPr>
            <a:xfrm>
              <a:off x="2752344" y="5287711"/>
              <a:ext cx="3098482" cy="317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 dirty="0">
                  <a:solidFill>
                    <a:schemeClr val="bg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25P0320045</a:t>
              </a:r>
              <a:endParaRPr sz="4000" dirty="0">
                <a:solidFill>
                  <a:schemeClr val="bg1"/>
                </a:solidFill>
              </a:endParaRPr>
            </a:p>
          </p:txBody>
        </p:sp>
        <p:sp>
          <p:nvSpPr>
            <p:cNvPr id="102" name="Google Shape;102;p13">
              <a:extLst>
                <a:ext uri="{FF2B5EF4-FFF2-40B4-BE49-F238E27FC236}">
                  <a16:creationId xmlns:a16="http://schemas.microsoft.com/office/drawing/2014/main" id="{34EB9873-2F65-4FBE-5C1B-93C49B27C962}"/>
                </a:ext>
              </a:extLst>
            </p:cNvPr>
            <p:cNvSpPr txBox="1"/>
            <p:nvPr/>
          </p:nvSpPr>
          <p:spPr>
            <a:xfrm>
              <a:off x="7232383" y="4709910"/>
              <a:ext cx="2381391" cy="408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 dirty="0">
                  <a:solidFill>
                    <a:srgbClr val="1C729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Samuel D’Souza</a:t>
              </a:r>
              <a:endParaRPr sz="4000" dirty="0">
                <a:solidFill>
                  <a:srgbClr val="1C7293"/>
                </a:solidFill>
              </a:endParaRPr>
            </a:p>
          </p:txBody>
        </p:sp>
        <p:sp>
          <p:nvSpPr>
            <p:cNvPr id="103" name="Google Shape;103;p13">
              <a:extLst>
                <a:ext uri="{FF2B5EF4-FFF2-40B4-BE49-F238E27FC236}">
                  <a16:creationId xmlns:a16="http://schemas.microsoft.com/office/drawing/2014/main" id="{81856AE5-CF75-AC80-591F-1F4006981EEC}"/>
                </a:ext>
              </a:extLst>
            </p:cNvPr>
            <p:cNvSpPr txBox="1"/>
            <p:nvPr/>
          </p:nvSpPr>
          <p:spPr>
            <a:xfrm>
              <a:off x="8125135" y="5287708"/>
              <a:ext cx="1488638" cy="317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 dirty="0">
                  <a:solidFill>
                    <a:schemeClr val="bg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25P0320041</a:t>
              </a:r>
              <a:endParaRPr sz="4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8055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1246</Words>
  <Application>Microsoft Office PowerPoint</Application>
  <PresentationFormat>Widescreen</PresentationFormat>
  <Paragraphs>181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Arial</vt:lpstr>
      <vt:lpstr>Plus Jakarta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Samuel D'Souza</cp:lastModifiedBy>
  <cp:revision>7</cp:revision>
  <dcterms:modified xsi:type="dcterms:W3CDTF">2026-10-26T18:24:33Z</dcterms:modified>
</cp:coreProperties>
</file>