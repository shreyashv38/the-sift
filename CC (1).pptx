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Inter SemiBold"/>
      <p:regular r:id="rId12"/>
      <p:bold r:id="rId13"/>
      <p:italic r:id="rId14"/>
      <p:boldItalic r:id="rId15"/>
    </p:embeddedFont>
    <p:embeddedFont>
      <p:font typeface="Inter"/>
      <p:bold r:id="rId16"/>
      <p:boldItalic r:id="rId17"/>
    </p:embeddedFont>
    <p:embeddedFont>
      <p:font typeface="Inter ExtraBold"/>
      <p:bold r:id="rId18"/>
      <p:boldItalic r:id="rId19"/>
    </p:embeddedFont>
    <p:embeddedFont>
      <p:font typeface="Inter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Medium-regular.fntdata"/><Relationship Id="rId11" Type="http://schemas.openxmlformats.org/officeDocument/2006/relationships/slide" Target="slides/slide6.xml"/><Relationship Id="rId22" Type="http://schemas.openxmlformats.org/officeDocument/2006/relationships/font" Target="fonts/InterMedium-italic.fntdata"/><Relationship Id="rId10" Type="http://schemas.openxmlformats.org/officeDocument/2006/relationships/slide" Target="slides/slide5.xml"/><Relationship Id="rId21" Type="http://schemas.openxmlformats.org/officeDocument/2006/relationships/font" Target="fonts/InterMedium-bold.fntdata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23" Type="http://schemas.openxmlformats.org/officeDocument/2006/relationships/font" Target="fonts/Inter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ExtraBold-boldItalic.fntdata"/><Relationship Id="rId6" Type="http://schemas.openxmlformats.org/officeDocument/2006/relationships/slide" Target="slides/slide1.xml"/><Relationship Id="rId18" Type="http://schemas.openxmlformats.org/officeDocument/2006/relationships/font" Target="fonts/InterExtra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65c18f1624a6aa6b_107_0)">
  <p:cSld name="Generated (h65c18f1624a6aa6b_107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4"/>
          <p:cNvGrpSpPr/>
          <p:nvPr/>
        </p:nvGrpSpPr>
        <p:grpSpPr>
          <a:xfrm>
            <a:off x="914400" y="2124075"/>
            <a:ext cx="10363200" cy="2609850"/>
            <a:chOff x="0" y="0"/>
            <a:chExt cx="10363200" cy="2609850"/>
          </a:xfrm>
        </p:grpSpPr>
        <p:sp>
          <p:nvSpPr>
            <p:cNvPr id="86" name="Google Shape;86;p14"/>
            <p:cNvSpPr/>
            <p:nvPr/>
          </p:nvSpPr>
          <p:spPr>
            <a:xfrm>
              <a:off x="0" y="0"/>
              <a:ext cx="2095500" cy="3240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 txBox="1"/>
            <p:nvPr/>
          </p:nvSpPr>
          <p:spPr>
            <a:xfrm>
              <a:off x="0" y="0"/>
              <a:ext cx="20955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60A5FA"/>
                  </a:solidFill>
                  <a:latin typeface="Inter"/>
                  <a:ea typeface="Inter"/>
                  <a:cs typeface="Inter"/>
                  <a:sym typeface="Inter"/>
                </a:rPr>
                <a:t>AWS &amp; IOT ARCHITECTURE</a:t>
              </a:r>
              <a:endParaRPr b="1" sz="1000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8" name="Google Shape;88;p14"/>
            <p:cNvSpPr txBox="1"/>
            <p:nvPr/>
          </p:nvSpPr>
          <p:spPr>
            <a:xfrm>
              <a:off x="0" y="514350"/>
              <a:ext cx="103632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6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SIFT: Scalable IoT For Tenants</a:t>
              </a:r>
              <a:endParaRPr b="0" sz="46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89" name="Google Shape;89;p14"/>
            <p:cNvSpPr txBox="1"/>
            <p:nvPr/>
          </p:nvSpPr>
          <p:spPr>
            <a:xfrm>
              <a:off x="0" y="1847850"/>
              <a:ext cx="809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Architecting isolated smart home environments for thousands of users on AWS.</a:t>
              </a:r>
              <a:endParaRPr b="0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90" name="Google Shape;90;p14"/>
            <p:cNvCxnSpPr/>
            <p:nvPr/>
          </p:nvCxnSpPr>
          <p:spPr>
            <a:xfrm>
              <a:off x="0" y="2609850"/>
              <a:ext cx="10363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914400" y="533400"/>
            <a:ext cx="10363200" cy="724050"/>
            <a:chOff x="0" y="0"/>
            <a:chExt cx="10363200" cy="724050"/>
          </a:xfrm>
        </p:grpSpPr>
        <p:sp>
          <p:nvSpPr>
            <p:cNvPr id="96" name="Google Shape;96;p15"/>
            <p:cNvSpPr txBox="1"/>
            <p:nvPr/>
          </p:nvSpPr>
          <p:spPr>
            <a:xfrm>
              <a:off x="0" y="0"/>
              <a:ext cx="10363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1. THE PROJECT TOPIC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0" y="247650"/>
              <a:ext cx="10363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96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Overcoming the Single-User Limit</a:t>
              </a:r>
              <a:endParaRPr b="0" sz="296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98" name="Google Shape;98;p15"/>
          <p:cNvGrpSpPr/>
          <p:nvPr/>
        </p:nvGrpSpPr>
        <p:grpSpPr>
          <a:xfrm>
            <a:off x="914400" y="1619250"/>
            <a:ext cx="4876800" cy="4476900"/>
            <a:chOff x="0" y="0"/>
            <a:chExt cx="4876800" cy="4476900"/>
          </a:xfrm>
        </p:grpSpPr>
        <p:sp>
          <p:nvSpPr>
            <p:cNvPr id="99" name="Google Shape;99;p15"/>
            <p:cNvSpPr/>
            <p:nvPr/>
          </p:nvSpPr>
          <p:spPr>
            <a:xfrm>
              <a:off x="0" y="0"/>
              <a:ext cx="4876800" cy="4476900"/>
            </a:xfrm>
            <a:prstGeom prst="roundRect">
              <a:avLst>
                <a:gd fmla="val 3404" name="adj"/>
              </a:avLst>
            </a:prstGeom>
            <a:solidFill>
              <a:srgbClr val="FFFFFF"/>
            </a:solidFill>
            <a:ln cap="flat" cmpd="sng" w="19050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0" y="0"/>
              <a:ext cx="4876800" cy="952500"/>
            </a:xfrm>
            <a:prstGeom prst="roundRect">
              <a:avLst>
                <a:gd fmla="val 16000" name="adj"/>
              </a:avLst>
            </a:prstGeom>
            <a:solidFill>
              <a:srgbClr val="FEF2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0" y="762000"/>
              <a:ext cx="4876800" cy="190500"/>
            </a:xfrm>
            <a:prstGeom prst="rect">
              <a:avLst/>
            </a:prstGeom>
            <a:solidFill>
              <a:srgbClr val="FEF2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304800" y="247650"/>
              <a:ext cx="457200" cy="4572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400050" y="369189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DC262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router</a:t>
              </a:r>
              <a:endParaRPr sz="1800">
                <a:solidFill>
                  <a:srgbClr val="DC262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914400" y="247650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Standard Home Assistant</a:t>
              </a:r>
              <a:endParaRPr b="1" sz="18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914400" y="552450"/>
              <a:ext cx="3619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91B1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LEGACY MONOLITHIC ARCHITECTURE</a:t>
              </a:r>
              <a:endParaRPr b="0" sz="1050">
                <a:solidFill>
                  <a:srgbClr val="991B1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106" name="Google Shape;106;p15"/>
            <p:cNvCxnSpPr/>
            <p:nvPr/>
          </p:nvCxnSpPr>
          <p:spPr>
            <a:xfrm>
              <a:off x="0" y="952500"/>
              <a:ext cx="4876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EE2E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7" name="Google Shape;107;p15"/>
            <p:cNvGrpSpPr/>
            <p:nvPr/>
          </p:nvGrpSpPr>
          <p:grpSpPr>
            <a:xfrm>
              <a:off x="304800" y="1257300"/>
              <a:ext cx="4267200" cy="838200"/>
              <a:chOff x="0" y="0"/>
              <a:chExt cx="4267200" cy="838200"/>
            </a:xfrm>
          </p:grpSpPr>
          <p:sp>
            <p:nvSpPr>
              <p:cNvPr id="108" name="Google Shape;108;p15"/>
              <p:cNvSpPr/>
              <p:nvPr/>
            </p:nvSpPr>
            <p:spPr>
              <a:xfrm>
                <a:off x="0" y="0"/>
                <a:ext cx="4267200" cy="838200"/>
              </a:xfrm>
              <a:prstGeom prst="roundRect">
                <a:avLst>
                  <a:gd fmla="val 13636" name="adj"/>
                </a:avLst>
              </a:prstGeom>
              <a:solidFill>
                <a:srgbClr val="FAFAFA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209550" y="247650"/>
                <a:ext cx="342900" cy="342900"/>
              </a:xfrm>
              <a:prstGeom prst="ellipse">
                <a:avLst/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5"/>
              <p:cNvSpPr txBox="1"/>
              <p:nvPr/>
            </p:nvSpPr>
            <p:spPr>
              <a:xfrm>
                <a:off x="266700" y="32670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EF444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close</a:t>
                </a:r>
                <a:endParaRPr sz="15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11" name="Google Shape;111;p15"/>
              <p:cNvSpPr txBox="1"/>
              <p:nvPr/>
            </p:nvSpPr>
            <p:spPr>
              <a:xfrm>
                <a:off x="685800" y="190500"/>
                <a:ext cx="3333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Strictly local deployment.</a:t>
                </a:r>
                <a:endParaRPr b="0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12" name="Google Shape;112;p15"/>
            <p:cNvGrpSpPr/>
            <p:nvPr/>
          </p:nvGrpSpPr>
          <p:grpSpPr>
            <a:xfrm>
              <a:off x="304800" y="2247900"/>
              <a:ext cx="4267200" cy="838200"/>
              <a:chOff x="0" y="0"/>
              <a:chExt cx="4267200" cy="838200"/>
            </a:xfrm>
          </p:grpSpPr>
          <p:sp>
            <p:nvSpPr>
              <p:cNvPr id="113" name="Google Shape;113;p15"/>
              <p:cNvSpPr/>
              <p:nvPr/>
            </p:nvSpPr>
            <p:spPr>
              <a:xfrm>
                <a:off x="0" y="0"/>
                <a:ext cx="4267200" cy="838200"/>
              </a:xfrm>
              <a:prstGeom prst="roundRect">
                <a:avLst>
                  <a:gd fmla="val 13636" name="adj"/>
                </a:avLst>
              </a:prstGeom>
              <a:solidFill>
                <a:srgbClr val="FAFAFA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209550" y="247650"/>
                <a:ext cx="342900" cy="342900"/>
              </a:xfrm>
              <a:prstGeom prst="ellipse">
                <a:avLst/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5"/>
              <p:cNvSpPr txBox="1"/>
              <p:nvPr/>
            </p:nvSpPr>
            <p:spPr>
              <a:xfrm>
                <a:off x="266700" y="32670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EF444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close</a:t>
                </a:r>
                <a:endParaRPr sz="15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16" name="Google Shape;116;p15"/>
              <p:cNvSpPr txBox="1"/>
              <p:nvPr/>
            </p:nvSpPr>
            <p:spPr>
              <a:xfrm>
                <a:off x="685800" y="190500"/>
                <a:ext cx="3333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Cannot scale to multiple accounts.</a:t>
                </a:r>
                <a:endParaRPr b="0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17" name="Google Shape;117;p15"/>
            <p:cNvGrpSpPr/>
            <p:nvPr/>
          </p:nvGrpSpPr>
          <p:grpSpPr>
            <a:xfrm>
              <a:off x="304800" y="3238500"/>
              <a:ext cx="4267200" cy="838200"/>
              <a:chOff x="0" y="0"/>
              <a:chExt cx="4267200" cy="838200"/>
            </a:xfrm>
          </p:grpSpPr>
          <p:sp>
            <p:nvSpPr>
              <p:cNvPr id="118" name="Google Shape;118;p15"/>
              <p:cNvSpPr/>
              <p:nvPr/>
            </p:nvSpPr>
            <p:spPr>
              <a:xfrm>
                <a:off x="0" y="0"/>
                <a:ext cx="4267200" cy="838200"/>
              </a:xfrm>
              <a:prstGeom prst="roundRect">
                <a:avLst>
                  <a:gd fmla="val 13636" name="adj"/>
                </a:avLst>
              </a:prstGeom>
              <a:solidFill>
                <a:srgbClr val="FAFAFA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209550" y="247650"/>
                <a:ext cx="342900" cy="342900"/>
              </a:xfrm>
              <a:prstGeom prst="ellipse">
                <a:avLst/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5"/>
              <p:cNvSpPr txBox="1"/>
              <p:nvPr/>
            </p:nvSpPr>
            <p:spPr>
              <a:xfrm>
                <a:off x="266700" y="32670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EF444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close</a:t>
                </a:r>
                <a:endParaRPr sz="15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1" name="Google Shape;121;p15"/>
              <p:cNvSpPr txBox="1"/>
              <p:nvPr/>
            </p:nvSpPr>
            <p:spPr>
              <a:xfrm>
                <a:off x="685800" y="190500"/>
                <a:ext cx="3333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Severe data privacy risks.</a:t>
                </a:r>
                <a:endParaRPr b="0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122" name="Google Shape;122;p15"/>
          <p:cNvGrpSpPr/>
          <p:nvPr/>
        </p:nvGrpSpPr>
        <p:grpSpPr>
          <a:xfrm>
            <a:off x="6400800" y="1619250"/>
            <a:ext cx="4876800" cy="4476900"/>
            <a:chOff x="0" y="0"/>
            <a:chExt cx="4876800" cy="4476900"/>
          </a:xfrm>
        </p:grpSpPr>
        <p:sp>
          <p:nvSpPr>
            <p:cNvPr id="123" name="Google Shape;123;p15"/>
            <p:cNvSpPr/>
            <p:nvPr/>
          </p:nvSpPr>
          <p:spPr>
            <a:xfrm>
              <a:off x="0" y="0"/>
              <a:ext cx="4876800" cy="4476900"/>
            </a:xfrm>
            <a:prstGeom prst="roundRect">
              <a:avLst>
                <a:gd fmla="val 3404" name="adj"/>
              </a:avLst>
            </a:prstGeom>
            <a:solidFill>
              <a:srgbClr val="FFFFFF"/>
            </a:solidFill>
            <a:ln cap="flat" cmpd="sng" w="19050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0" y="0"/>
              <a:ext cx="4876800" cy="952500"/>
            </a:xfrm>
            <a:prstGeom prst="roundRect">
              <a:avLst>
                <a:gd fmla="val 16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0" y="762000"/>
              <a:ext cx="4876800" cy="19050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304800" y="24765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400050" y="369189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cloud_queue</a:t>
              </a:r>
              <a:endParaRPr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8" name="Google Shape;128;p15"/>
            <p:cNvSpPr txBox="1"/>
            <p:nvPr/>
          </p:nvSpPr>
          <p:spPr>
            <a:xfrm>
              <a:off x="914400" y="247650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Cloud-Native Approach</a:t>
              </a:r>
              <a:endParaRPr b="1" sz="18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9" name="Google Shape;129;p15"/>
            <p:cNvSpPr txBox="1"/>
            <p:nvPr/>
          </p:nvSpPr>
          <p:spPr>
            <a:xfrm>
              <a:off x="914400" y="552450"/>
              <a:ext cx="3619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1D4ED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NEXT-GEN MULTI-TENANT SOLUTION</a:t>
              </a:r>
              <a:endParaRPr b="0" sz="1050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130" name="Google Shape;130;p15"/>
            <p:cNvCxnSpPr/>
            <p:nvPr/>
          </p:nvCxnSpPr>
          <p:spPr>
            <a:xfrm>
              <a:off x="0" y="952500"/>
              <a:ext cx="4876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31" name="Google Shape;131;p15"/>
            <p:cNvGrpSpPr/>
            <p:nvPr/>
          </p:nvGrpSpPr>
          <p:grpSpPr>
            <a:xfrm>
              <a:off x="304800" y="1257300"/>
              <a:ext cx="4267200" cy="838200"/>
              <a:chOff x="0" y="0"/>
              <a:chExt cx="4267200" cy="838200"/>
            </a:xfrm>
          </p:grpSpPr>
          <p:sp>
            <p:nvSpPr>
              <p:cNvPr id="132" name="Google Shape;132;p15"/>
              <p:cNvSpPr/>
              <p:nvPr/>
            </p:nvSpPr>
            <p:spPr>
              <a:xfrm>
                <a:off x="0" y="0"/>
                <a:ext cx="4267200" cy="838200"/>
              </a:xfrm>
              <a:prstGeom prst="roundRect">
                <a:avLst>
                  <a:gd fmla="val 13636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>
                <a:off x="209550" y="247650"/>
                <a:ext cx="342900" cy="3429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5"/>
              <p:cNvSpPr txBox="1"/>
              <p:nvPr/>
            </p:nvSpPr>
            <p:spPr>
              <a:xfrm>
                <a:off x="266700" y="32670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check</a:t>
                </a:r>
                <a:endParaRPr sz="15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35" name="Google Shape;135;p15"/>
              <p:cNvSpPr txBox="1"/>
              <p:nvPr/>
            </p:nvSpPr>
            <p:spPr>
              <a:xfrm>
                <a:off x="685800" y="190500"/>
                <a:ext cx="3333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Strict container isolation.</a:t>
                </a:r>
                <a:endParaRPr b="0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36" name="Google Shape;136;p15"/>
            <p:cNvGrpSpPr/>
            <p:nvPr/>
          </p:nvGrpSpPr>
          <p:grpSpPr>
            <a:xfrm>
              <a:off x="304800" y="2247900"/>
              <a:ext cx="4267200" cy="838200"/>
              <a:chOff x="0" y="0"/>
              <a:chExt cx="4267200" cy="838200"/>
            </a:xfrm>
          </p:grpSpPr>
          <p:sp>
            <p:nvSpPr>
              <p:cNvPr id="137" name="Google Shape;137;p15"/>
              <p:cNvSpPr/>
              <p:nvPr/>
            </p:nvSpPr>
            <p:spPr>
              <a:xfrm>
                <a:off x="0" y="0"/>
                <a:ext cx="4267200" cy="838200"/>
              </a:xfrm>
              <a:prstGeom prst="roundRect">
                <a:avLst>
                  <a:gd fmla="val 13636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5"/>
              <p:cNvSpPr/>
              <p:nvPr/>
            </p:nvSpPr>
            <p:spPr>
              <a:xfrm>
                <a:off x="209550" y="247650"/>
                <a:ext cx="342900" cy="3429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5"/>
              <p:cNvSpPr txBox="1"/>
              <p:nvPr/>
            </p:nvSpPr>
            <p:spPr>
              <a:xfrm>
                <a:off x="266700" y="32670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check</a:t>
                </a:r>
                <a:endParaRPr sz="15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40" name="Google Shape;140;p15"/>
              <p:cNvSpPr txBox="1"/>
              <p:nvPr/>
            </p:nvSpPr>
            <p:spPr>
              <a:xfrm>
                <a:off x="685800" y="190500"/>
                <a:ext cx="3333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Centralized device identity.</a:t>
                </a:r>
                <a:endParaRPr b="0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41" name="Google Shape;141;p15"/>
            <p:cNvGrpSpPr/>
            <p:nvPr/>
          </p:nvGrpSpPr>
          <p:grpSpPr>
            <a:xfrm>
              <a:off x="304800" y="3238500"/>
              <a:ext cx="4267200" cy="838200"/>
              <a:chOff x="0" y="0"/>
              <a:chExt cx="4267200" cy="838200"/>
            </a:xfrm>
          </p:grpSpPr>
          <p:sp>
            <p:nvSpPr>
              <p:cNvPr id="142" name="Google Shape;142;p15"/>
              <p:cNvSpPr/>
              <p:nvPr/>
            </p:nvSpPr>
            <p:spPr>
              <a:xfrm>
                <a:off x="0" y="0"/>
                <a:ext cx="4267200" cy="838200"/>
              </a:xfrm>
              <a:prstGeom prst="roundRect">
                <a:avLst>
                  <a:gd fmla="val 13636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5"/>
              <p:cNvSpPr/>
              <p:nvPr/>
            </p:nvSpPr>
            <p:spPr>
              <a:xfrm>
                <a:off x="209550" y="247650"/>
                <a:ext cx="342900" cy="3429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5"/>
              <p:cNvSpPr txBox="1"/>
              <p:nvPr/>
            </p:nvSpPr>
            <p:spPr>
              <a:xfrm>
                <a:off x="266700" y="32670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check</a:t>
                </a:r>
                <a:endParaRPr sz="15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45" name="Google Shape;145;p15"/>
              <p:cNvSpPr txBox="1"/>
              <p:nvPr/>
            </p:nvSpPr>
            <p:spPr>
              <a:xfrm>
                <a:off x="685800" y="190500"/>
                <a:ext cx="3333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Automated Kubernetes provisioning.</a:t>
                </a:r>
                <a:endParaRPr b="0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146" name="Google Shape;146;p15"/>
          <p:cNvGrpSpPr/>
          <p:nvPr/>
        </p:nvGrpSpPr>
        <p:grpSpPr>
          <a:xfrm>
            <a:off x="5867400" y="3619500"/>
            <a:ext cx="457200" cy="485680"/>
            <a:chOff x="0" y="0"/>
            <a:chExt cx="457200" cy="485680"/>
          </a:xfrm>
        </p:grpSpPr>
        <p:sp>
          <p:nvSpPr>
            <p:cNvPr id="147" name="Google Shape;147;p15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5"/>
            <p:cNvSpPr txBox="1"/>
            <p:nvPr/>
          </p:nvSpPr>
          <p:spPr>
            <a:xfrm>
              <a:off x="0" y="2848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arrow_forward</a:t>
              </a:r>
              <a:endParaRPr sz="195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SYSTEM DESIGN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09600" y="733425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Architecture &amp; Routing</a:t>
            </a:r>
            <a:endParaRPr/>
          </a:p>
        </p:txBody>
      </p:sp>
      <p:grpSp>
        <p:nvGrpSpPr>
          <p:cNvPr id="155" name="Google Shape;155;p16"/>
          <p:cNvGrpSpPr/>
          <p:nvPr/>
        </p:nvGrpSpPr>
        <p:grpSpPr>
          <a:xfrm>
            <a:off x="609600" y="1524000"/>
            <a:ext cx="3810000" cy="1238400"/>
            <a:chOff x="0" y="0"/>
            <a:chExt cx="3810000" cy="1238400"/>
          </a:xfrm>
        </p:grpSpPr>
        <p:sp>
          <p:nvSpPr>
            <p:cNvPr id="156" name="Google Shape;156;p16"/>
            <p:cNvSpPr/>
            <p:nvPr/>
          </p:nvSpPr>
          <p:spPr>
            <a:xfrm>
              <a:off x="0" y="0"/>
              <a:ext cx="3810000" cy="1238400"/>
            </a:xfrm>
            <a:prstGeom prst="roundRect">
              <a:avLst>
                <a:gd fmla="val 923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209550" y="209550"/>
              <a:ext cx="419100" cy="4191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6"/>
            <p:cNvSpPr txBox="1"/>
            <p:nvPr/>
          </p:nvSpPr>
          <p:spPr>
            <a:xfrm>
              <a:off x="304800" y="331089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alt_route</a:t>
              </a:r>
              <a:endParaRPr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9" name="Google Shape;159;p16"/>
            <p:cNvSpPr txBox="1"/>
            <p:nvPr/>
          </p:nvSpPr>
          <p:spPr>
            <a:xfrm>
              <a:off x="762000" y="190500"/>
              <a:ext cx="2857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Ingress Layer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Traefik routes inbound HTTP/MQTT traffic securely.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0" name="Google Shape;160;p16"/>
          <p:cNvGrpSpPr/>
          <p:nvPr/>
        </p:nvGrpSpPr>
        <p:grpSpPr>
          <a:xfrm>
            <a:off x="609600" y="2952750"/>
            <a:ext cx="3810000" cy="1238400"/>
            <a:chOff x="0" y="0"/>
            <a:chExt cx="3810000" cy="1238400"/>
          </a:xfrm>
        </p:grpSpPr>
        <p:sp>
          <p:nvSpPr>
            <p:cNvPr id="161" name="Google Shape;161;p16"/>
            <p:cNvSpPr/>
            <p:nvPr/>
          </p:nvSpPr>
          <p:spPr>
            <a:xfrm>
              <a:off x="0" y="0"/>
              <a:ext cx="3810000" cy="1238400"/>
            </a:xfrm>
            <a:prstGeom prst="roundRect">
              <a:avLst>
                <a:gd fmla="val 923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209550" y="209550"/>
              <a:ext cx="419100" cy="4191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6"/>
            <p:cNvSpPr txBox="1"/>
            <p:nvPr/>
          </p:nvSpPr>
          <p:spPr>
            <a:xfrm>
              <a:off x="304800" y="331089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4" name="Google Shape;164;p16"/>
            <p:cNvSpPr txBox="1"/>
            <p:nvPr/>
          </p:nvSpPr>
          <p:spPr>
            <a:xfrm>
              <a:off x="762000" y="190500"/>
              <a:ext cx="2857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Provisioning API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Commands K8s to spawn new tenant pods.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5" name="Google Shape;165;p16"/>
          <p:cNvGrpSpPr/>
          <p:nvPr/>
        </p:nvGrpSpPr>
        <p:grpSpPr>
          <a:xfrm>
            <a:off x="609600" y="4381500"/>
            <a:ext cx="3810000" cy="1238400"/>
            <a:chOff x="0" y="0"/>
            <a:chExt cx="3810000" cy="1238400"/>
          </a:xfrm>
        </p:grpSpPr>
        <p:sp>
          <p:nvSpPr>
            <p:cNvPr id="166" name="Google Shape;166;p16"/>
            <p:cNvSpPr/>
            <p:nvPr/>
          </p:nvSpPr>
          <p:spPr>
            <a:xfrm>
              <a:off x="0" y="0"/>
              <a:ext cx="3810000" cy="1238400"/>
            </a:xfrm>
            <a:prstGeom prst="roundRect">
              <a:avLst>
                <a:gd fmla="val 923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209550" y="209550"/>
              <a:ext cx="419100" cy="4191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6"/>
            <p:cNvSpPr txBox="1"/>
            <p:nvPr/>
          </p:nvSpPr>
          <p:spPr>
            <a:xfrm>
              <a:off x="304800" y="331089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9" name="Google Shape;169;p16"/>
            <p:cNvSpPr txBox="1"/>
            <p:nvPr/>
          </p:nvSpPr>
          <p:spPr>
            <a:xfrm>
              <a:off x="762000" y="190500"/>
              <a:ext cx="2857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Telemetry Pipeline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Hardware publishes directly to Mainflux.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0" name="Google Shape;170;p16"/>
          <p:cNvGrpSpPr/>
          <p:nvPr/>
        </p:nvGrpSpPr>
        <p:grpSpPr>
          <a:xfrm>
            <a:off x="4724400" y="1524000"/>
            <a:ext cx="6858000" cy="4381500"/>
            <a:chOff x="0" y="0"/>
            <a:chExt cx="6858000" cy="4381500"/>
          </a:xfrm>
        </p:grpSpPr>
        <p:sp>
          <p:nvSpPr>
            <p:cNvPr id="171" name="Google Shape;171;p16"/>
            <p:cNvSpPr/>
            <p:nvPr/>
          </p:nvSpPr>
          <p:spPr>
            <a:xfrm>
              <a:off x="0" y="0"/>
              <a:ext cx="6858000" cy="43815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2" name="Google Shape;172;p16"/>
            <p:cNvPicPr preferRelativeResize="0"/>
            <p:nvPr/>
          </p:nvPicPr>
          <p:blipFill rotWithShape="1">
            <a:blip r:embed="rId3">
              <a:alphaModFix/>
            </a:blip>
            <a:srcRect b="0" l="-30459" r="-30442" t="0"/>
            <a:stretch/>
          </p:blipFill>
          <p:spPr>
            <a:xfrm>
              <a:off x="95250" y="95250"/>
              <a:ext cx="6667500" cy="4191000"/>
            </a:xfrm>
            <a:prstGeom prst="roundRect">
              <a:avLst>
                <a:gd fmla="val 2727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/>
          <p:nvPr/>
        </p:nvSpPr>
        <p:spPr>
          <a:xfrm>
            <a:off x="914400" y="533400"/>
            <a:ext cx="103632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2. SERVICES INTENDED TO USE</a:t>
            </a:r>
            <a:endParaRPr b="1" sz="1100">
              <a:solidFill>
                <a:srgbClr val="3B82F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914400" y="781050"/>
            <a:ext cx="103632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Core Tech Stack</a:t>
            </a:r>
            <a:endParaRPr b="0" sz="30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79" name="Google Shape;179;p17"/>
          <p:cNvGrpSpPr/>
          <p:nvPr/>
        </p:nvGrpSpPr>
        <p:grpSpPr>
          <a:xfrm>
            <a:off x="914400" y="1600200"/>
            <a:ext cx="5029200" cy="2095500"/>
            <a:chOff x="0" y="0"/>
            <a:chExt cx="5029200" cy="2095500"/>
          </a:xfrm>
        </p:grpSpPr>
        <p:sp>
          <p:nvSpPr>
            <p:cNvPr id="180" name="Google Shape;180;p17"/>
            <p:cNvSpPr/>
            <p:nvPr/>
          </p:nvSpPr>
          <p:spPr>
            <a:xfrm>
              <a:off x="0" y="0"/>
              <a:ext cx="5029200" cy="20955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228600" y="2286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7"/>
            <p:cNvSpPr txBox="1"/>
            <p:nvPr/>
          </p:nvSpPr>
          <p:spPr>
            <a:xfrm>
              <a:off x="228600" y="25781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fingerprint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3" name="Google Shape;183;p17"/>
            <p:cNvSpPr txBox="1"/>
            <p:nvPr/>
          </p:nvSpPr>
          <p:spPr>
            <a:xfrm>
              <a:off x="838200" y="209550"/>
              <a:ext cx="3962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Mainflux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Identity &amp; MQTT Broker</a:t>
              </a:r>
              <a:endParaRPr b="0" sz="1100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84" name="Google Shape;184;p17"/>
            <p:cNvSpPr/>
            <p:nvPr/>
          </p:nvSpPr>
          <p:spPr>
            <a:xfrm>
              <a:off x="228600" y="914400"/>
              <a:ext cx="4572000" cy="9525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7"/>
            <p:cNvSpPr txBox="1"/>
            <p:nvPr/>
          </p:nvSpPr>
          <p:spPr>
            <a:xfrm>
              <a:off x="381000" y="1028700"/>
              <a:ext cx="42672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WHY IT'S USED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Absolute source of truth for platform credentials.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6" name="Google Shape;186;p17"/>
          <p:cNvGrpSpPr/>
          <p:nvPr/>
        </p:nvGrpSpPr>
        <p:grpSpPr>
          <a:xfrm>
            <a:off x="6248400" y="1600200"/>
            <a:ext cx="5029200" cy="2095500"/>
            <a:chOff x="0" y="0"/>
            <a:chExt cx="5029200" cy="2095500"/>
          </a:xfrm>
        </p:grpSpPr>
        <p:sp>
          <p:nvSpPr>
            <p:cNvPr id="187" name="Google Shape;187;p17"/>
            <p:cNvSpPr/>
            <p:nvPr/>
          </p:nvSpPr>
          <p:spPr>
            <a:xfrm>
              <a:off x="0" y="0"/>
              <a:ext cx="5029200" cy="20955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228600" y="2286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7"/>
            <p:cNvSpPr txBox="1"/>
            <p:nvPr/>
          </p:nvSpPr>
          <p:spPr>
            <a:xfrm>
              <a:off x="228600" y="25781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monitoring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0" name="Google Shape;190;p17"/>
            <p:cNvSpPr txBox="1"/>
            <p:nvPr/>
          </p:nvSpPr>
          <p:spPr>
            <a:xfrm>
              <a:off x="838200" y="209550"/>
              <a:ext cx="3962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ThingsBoard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Platform Observability</a:t>
              </a:r>
              <a:endParaRPr b="0" sz="1100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228600" y="914400"/>
              <a:ext cx="4572000" cy="9525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7"/>
            <p:cNvSpPr txBox="1"/>
            <p:nvPr/>
          </p:nvSpPr>
          <p:spPr>
            <a:xfrm>
              <a:off x="381000" y="1028700"/>
              <a:ext cx="42672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WHY IT'S USED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Tracks system-wide telemetry and alarms.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3" name="Google Shape;193;p17"/>
          <p:cNvGrpSpPr/>
          <p:nvPr/>
        </p:nvGrpSpPr>
        <p:grpSpPr>
          <a:xfrm>
            <a:off x="914400" y="3924300"/>
            <a:ext cx="5029200" cy="2095500"/>
            <a:chOff x="0" y="0"/>
            <a:chExt cx="5029200" cy="2095500"/>
          </a:xfrm>
        </p:grpSpPr>
        <p:sp>
          <p:nvSpPr>
            <p:cNvPr id="194" name="Google Shape;194;p17"/>
            <p:cNvSpPr/>
            <p:nvPr/>
          </p:nvSpPr>
          <p:spPr>
            <a:xfrm>
              <a:off x="0" y="0"/>
              <a:ext cx="5029200" cy="20955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228600" y="2286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7"/>
            <p:cNvSpPr txBox="1"/>
            <p:nvPr/>
          </p:nvSpPr>
          <p:spPr>
            <a:xfrm>
              <a:off x="228600" y="25781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7" name="Google Shape;197;p17"/>
            <p:cNvSpPr txBox="1"/>
            <p:nvPr/>
          </p:nvSpPr>
          <p:spPr>
            <a:xfrm>
              <a:off x="838200" y="209550"/>
              <a:ext cx="3962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Kubernetes (K3s)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Cloud Orchestrator</a:t>
              </a:r>
              <a:endParaRPr b="0" sz="1100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228600" y="914400"/>
              <a:ext cx="4572000" cy="9525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7"/>
            <p:cNvSpPr txBox="1"/>
            <p:nvPr/>
          </p:nvSpPr>
          <p:spPr>
            <a:xfrm>
              <a:off x="381000" y="1028700"/>
              <a:ext cx="42672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WHY IT'S USED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Automates pod creation for new users.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0" name="Google Shape;200;p17"/>
          <p:cNvGrpSpPr/>
          <p:nvPr/>
        </p:nvGrpSpPr>
        <p:grpSpPr>
          <a:xfrm>
            <a:off x="6248400" y="3924300"/>
            <a:ext cx="5029200" cy="2095500"/>
            <a:chOff x="0" y="0"/>
            <a:chExt cx="5029200" cy="2095500"/>
          </a:xfrm>
        </p:grpSpPr>
        <p:sp>
          <p:nvSpPr>
            <p:cNvPr id="201" name="Google Shape;201;p17"/>
            <p:cNvSpPr/>
            <p:nvPr/>
          </p:nvSpPr>
          <p:spPr>
            <a:xfrm>
              <a:off x="0" y="0"/>
              <a:ext cx="5029200" cy="20955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228600" y="2286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7"/>
            <p:cNvSpPr txBox="1"/>
            <p:nvPr/>
          </p:nvSpPr>
          <p:spPr>
            <a:xfrm>
              <a:off x="228600" y="25781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smart_toy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4" name="Google Shape;204;p17"/>
            <p:cNvSpPr txBox="1"/>
            <p:nvPr/>
          </p:nvSpPr>
          <p:spPr>
            <a:xfrm>
              <a:off x="838200" y="209550"/>
              <a:ext cx="3962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Home Assistant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Automation Engine</a:t>
              </a:r>
              <a:endParaRPr b="0" sz="1100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228600" y="914400"/>
              <a:ext cx="4572000" cy="9525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7"/>
            <p:cNvSpPr txBox="1"/>
            <p:nvPr/>
          </p:nvSpPr>
          <p:spPr>
            <a:xfrm>
              <a:off x="381000" y="1028700"/>
              <a:ext cx="42672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WHY IT'S USED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Mature, isolated UI for every tenant.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"/>
          <p:cNvSpPr txBox="1"/>
          <p:nvPr/>
        </p:nvSpPr>
        <p:spPr>
          <a:xfrm>
            <a:off x="609600" y="457200"/>
            <a:ext cx="109728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PROOF OF CONCEPT</a:t>
            </a:r>
            <a:endParaRPr b="1" sz="1050">
              <a:solidFill>
                <a:srgbClr val="3B82F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609600" y="723900"/>
            <a:ext cx="109728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Demo Deployment</a:t>
            </a:r>
            <a:endParaRPr b="0" sz="24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13" name="Google Shape;213;p18"/>
          <p:cNvGrpSpPr/>
          <p:nvPr/>
        </p:nvGrpSpPr>
        <p:grpSpPr>
          <a:xfrm>
            <a:off x="609600" y="1524000"/>
            <a:ext cx="3810000" cy="1295400"/>
            <a:chOff x="0" y="0"/>
            <a:chExt cx="3810000" cy="1295400"/>
          </a:xfrm>
        </p:grpSpPr>
        <p:sp>
          <p:nvSpPr>
            <p:cNvPr id="214" name="Google Shape;214;p18"/>
            <p:cNvSpPr/>
            <p:nvPr/>
          </p:nvSpPr>
          <p:spPr>
            <a:xfrm>
              <a:off x="0" y="0"/>
              <a:ext cx="3810000" cy="1295400"/>
            </a:xfrm>
            <a:prstGeom prst="roundRect">
              <a:avLst>
                <a:gd fmla="val 882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8"/>
            <p:cNvSpPr/>
            <p:nvPr/>
          </p:nvSpPr>
          <p:spPr>
            <a:xfrm>
              <a:off x="209550" y="209550"/>
              <a:ext cx="419100" cy="4191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6" name="Google Shape;216;p18"/>
            <p:cNvGrpSpPr/>
            <p:nvPr/>
          </p:nvGrpSpPr>
          <p:grpSpPr>
            <a:xfrm>
              <a:off x="304800" y="331089"/>
              <a:ext cx="228600" cy="254889"/>
              <a:chOff x="0" y="0"/>
              <a:chExt cx="228600" cy="254889"/>
            </a:xfrm>
          </p:grpSpPr>
          <p:sp>
            <p:nvSpPr>
              <p:cNvPr id="217" name="Google Shape;217;p18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8"/>
              <p:cNvSpPr txBox="1"/>
              <p:nvPr/>
            </p:nvSpPr>
            <p:spPr>
              <a:xfrm>
                <a:off x="0" y="26289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memory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219" name="Google Shape;219;p18"/>
            <p:cNvGrpSpPr/>
            <p:nvPr/>
          </p:nvGrpSpPr>
          <p:grpSpPr>
            <a:xfrm>
              <a:off x="762000" y="190500"/>
              <a:ext cx="2857500" cy="914400"/>
              <a:chOff x="0" y="0"/>
              <a:chExt cx="2857500" cy="914400"/>
            </a:xfrm>
          </p:grpSpPr>
          <p:sp>
            <p:nvSpPr>
              <p:cNvPr id="220" name="Google Shape;220;p18"/>
              <p:cNvSpPr/>
              <p:nvPr/>
            </p:nvSpPr>
            <p:spPr>
              <a:xfrm>
                <a:off x="0" y="0"/>
                <a:ext cx="2857500" cy="914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8"/>
              <p:cNvSpPr txBox="1"/>
              <p:nvPr/>
            </p:nvSpPr>
            <p:spPr>
              <a:xfrm>
                <a:off x="0" y="0"/>
                <a:ext cx="28575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Hardware Limits</a:t>
                </a:r>
                <a:endParaRPr b="1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Running entirely on one AWS EC2 t3.small.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22" name="Google Shape;222;p18"/>
          <p:cNvGrpSpPr/>
          <p:nvPr/>
        </p:nvGrpSpPr>
        <p:grpSpPr>
          <a:xfrm>
            <a:off x="609600" y="2971800"/>
            <a:ext cx="3810000" cy="1295400"/>
            <a:chOff x="0" y="0"/>
            <a:chExt cx="3810000" cy="1295400"/>
          </a:xfrm>
        </p:grpSpPr>
        <p:sp>
          <p:nvSpPr>
            <p:cNvPr id="223" name="Google Shape;223;p18"/>
            <p:cNvSpPr/>
            <p:nvPr/>
          </p:nvSpPr>
          <p:spPr>
            <a:xfrm>
              <a:off x="0" y="0"/>
              <a:ext cx="3810000" cy="1295400"/>
            </a:xfrm>
            <a:prstGeom prst="roundRect">
              <a:avLst>
                <a:gd fmla="val 882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209550" y="209550"/>
              <a:ext cx="419100" cy="4191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5" name="Google Shape;225;p18"/>
            <p:cNvGrpSpPr/>
            <p:nvPr/>
          </p:nvGrpSpPr>
          <p:grpSpPr>
            <a:xfrm>
              <a:off x="304800" y="331089"/>
              <a:ext cx="228600" cy="254889"/>
              <a:chOff x="0" y="0"/>
              <a:chExt cx="228600" cy="254889"/>
            </a:xfrm>
          </p:grpSpPr>
          <p:sp>
            <p:nvSpPr>
              <p:cNvPr id="226" name="Google Shape;226;p18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8"/>
              <p:cNvSpPr txBox="1"/>
              <p:nvPr/>
            </p:nvSpPr>
            <p:spPr>
              <a:xfrm>
                <a:off x="0" y="26289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speed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228" name="Google Shape;228;p18"/>
            <p:cNvGrpSpPr/>
            <p:nvPr/>
          </p:nvGrpSpPr>
          <p:grpSpPr>
            <a:xfrm>
              <a:off x="762000" y="190500"/>
              <a:ext cx="2857500" cy="914400"/>
              <a:chOff x="0" y="0"/>
              <a:chExt cx="2857500" cy="914400"/>
            </a:xfrm>
          </p:grpSpPr>
          <p:sp>
            <p:nvSpPr>
              <p:cNvPr id="229" name="Google Shape;229;p18"/>
              <p:cNvSpPr/>
              <p:nvPr/>
            </p:nvSpPr>
            <p:spPr>
              <a:xfrm>
                <a:off x="0" y="0"/>
                <a:ext cx="2857500" cy="914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8"/>
              <p:cNvSpPr txBox="1"/>
              <p:nvPr/>
            </p:nvSpPr>
            <p:spPr>
              <a:xfrm>
                <a:off x="0" y="0"/>
                <a:ext cx="28575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Fleet Simulation</a:t>
                </a:r>
                <a:endParaRPr b="1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Testing load with 1000 concurrent devices.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31" name="Google Shape;231;p18"/>
          <p:cNvGrpSpPr/>
          <p:nvPr/>
        </p:nvGrpSpPr>
        <p:grpSpPr>
          <a:xfrm>
            <a:off x="609600" y="4419600"/>
            <a:ext cx="3810000" cy="1295400"/>
            <a:chOff x="0" y="0"/>
            <a:chExt cx="3810000" cy="1295400"/>
          </a:xfrm>
        </p:grpSpPr>
        <p:sp>
          <p:nvSpPr>
            <p:cNvPr id="232" name="Google Shape;232;p18"/>
            <p:cNvSpPr/>
            <p:nvPr/>
          </p:nvSpPr>
          <p:spPr>
            <a:xfrm>
              <a:off x="0" y="0"/>
              <a:ext cx="3810000" cy="1295400"/>
            </a:xfrm>
            <a:prstGeom prst="roundRect">
              <a:avLst>
                <a:gd fmla="val 882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209550" y="209550"/>
              <a:ext cx="419100" cy="4191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4" name="Google Shape;234;p18"/>
            <p:cNvGrpSpPr/>
            <p:nvPr/>
          </p:nvGrpSpPr>
          <p:grpSpPr>
            <a:xfrm>
              <a:off x="304800" y="331089"/>
              <a:ext cx="228600" cy="254889"/>
              <a:chOff x="0" y="0"/>
              <a:chExt cx="228600" cy="254889"/>
            </a:xfrm>
          </p:grpSpPr>
          <p:sp>
            <p:nvSpPr>
              <p:cNvPr id="235" name="Google Shape;235;p18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8"/>
              <p:cNvSpPr txBox="1"/>
              <p:nvPr/>
            </p:nvSpPr>
            <p:spPr>
              <a:xfrm>
                <a:off x="0" y="26289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insights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237" name="Google Shape;237;p18"/>
            <p:cNvGrpSpPr/>
            <p:nvPr/>
          </p:nvGrpSpPr>
          <p:grpSpPr>
            <a:xfrm>
              <a:off x="762000" y="190500"/>
              <a:ext cx="2857500" cy="914400"/>
              <a:chOff x="0" y="0"/>
              <a:chExt cx="2857500" cy="914400"/>
            </a:xfrm>
          </p:grpSpPr>
          <p:sp>
            <p:nvSpPr>
              <p:cNvPr id="238" name="Google Shape;238;p18"/>
              <p:cNvSpPr/>
              <p:nvPr/>
            </p:nvSpPr>
            <p:spPr>
              <a:xfrm>
                <a:off x="0" y="0"/>
                <a:ext cx="2857500" cy="914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8"/>
              <p:cNvSpPr txBox="1"/>
              <p:nvPr/>
            </p:nvSpPr>
            <p:spPr>
              <a:xfrm>
                <a:off x="0" y="0"/>
                <a:ext cx="28575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Metrics Tracked</a:t>
                </a:r>
                <a:endParaRPr b="1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Throughput, CPU load, and provisioning speed.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40" name="Google Shape;240;p18"/>
          <p:cNvGrpSpPr/>
          <p:nvPr/>
        </p:nvGrpSpPr>
        <p:grpSpPr>
          <a:xfrm>
            <a:off x="4724400" y="1524000"/>
            <a:ext cx="6858000" cy="4191000"/>
            <a:chOff x="0" y="0"/>
            <a:chExt cx="6858000" cy="4191000"/>
          </a:xfrm>
        </p:grpSpPr>
        <p:sp>
          <p:nvSpPr>
            <p:cNvPr id="241" name="Google Shape;241;p18"/>
            <p:cNvSpPr/>
            <p:nvPr/>
          </p:nvSpPr>
          <p:spPr>
            <a:xfrm>
              <a:off x="0" y="0"/>
              <a:ext cx="6858000" cy="41910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2" name="Google Shape;242;p18"/>
            <p:cNvPicPr preferRelativeResize="0"/>
            <p:nvPr/>
          </p:nvPicPr>
          <p:blipFill rotWithShape="1">
            <a:blip r:embed="rId3">
              <a:alphaModFix/>
            </a:blip>
            <a:srcRect b="0" l="-80774" r="-80800" t="0"/>
            <a:stretch/>
          </p:blipFill>
          <p:spPr>
            <a:xfrm>
              <a:off x="114300" y="114300"/>
              <a:ext cx="6629400" cy="3962400"/>
            </a:xfrm>
            <a:prstGeom prst="roundRect">
              <a:avLst>
                <a:gd fmla="val 2883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"/>
          <p:cNvSpPr txBox="1"/>
          <p:nvPr/>
        </p:nvSpPr>
        <p:spPr>
          <a:xfrm>
            <a:off x="914400" y="533400"/>
            <a:ext cx="103632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3. COST ESTIMATE</a:t>
            </a:r>
            <a:endParaRPr b="1" i="0" sz="1100">
              <a:solidFill>
                <a:srgbClr val="3B82F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914400" y="781050"/>
            <a:ext cx="103632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Production Scale Breakdown</a:t>
            </a:r>
            <a:endParaRPr b="0" i="0" sz="30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49" name="Google Shape;249;p19"/>
          <p:cNvGrpSpPr/>
          <p:nvPr/>
        </p:nvGrpSpPr>
        <p:grpSpPr>
          <a:xfrm>
            <a:off x="914400" y="1524000"/>
            <a:ext cx="10363200" cy="4667400"/>
            <a:chOff x="0" y="0"/>
            <a:chExt cx="10363200" cy="4667400"/>
          </a:xfrm>
        </p:grpSpPr>
        <p:sp>
          <p:nvSpPr>
            <p:cNvPr id="250" name="Google Shape;250;p19"/>
            <p:cNvSpPr/>
            <p:nvPr/>
          </p:nvSpPr>
          <p:spPr>
            <a:xfrm>
              <a:off x="0" y="0"/>
              <a:ext cx="10363200" cy="4667400"/>
            </a:xfrm>
            <a:prstGeom prst="roundRect">
              <a:avLst>
                <a:gd fmla="val 326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152400" y="152400"/>
              <a:ext cx="10058400" cy="381000"/>
            </a:xfrm>
            <a:prstGeom prst="roundRect">
              <a:avLst>
                <a:gd fmla="val 20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 txBox="1"/>
            <p:nvPr/>
          </p:nvSpPr>
          <p:spPr>
            <a:xfrm>
              <a:off x="304800" y="247650"/>
              <a:ext cx="2286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SERVICE</a:t>
              </a:r>
              <a:endParaRPr b="1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3" name="Google Shape;253;p19"/>
            <p:cNvSpPr txBox="1"/>
            <p:nvPr/>
          </p:nvSpPr>
          <p:spPr>
            <a:xfrm>
              <a:off x="2781300" y="247650"/>
              <a:ext cx="552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AWS COMPONENT</a:t>
              </a:r>
              <a:endParaRPr b="1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4" name="Google Shape;254;p19"/>
            <p:cNvSpPr txBox="1"/>
            <p:nvPr/>
          </p:nvSpPr>
          <p:spPr>
            <a:xfrm>
              <a:off x="8496300" y="247650"/>
              <a:ext cx="1562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MONTHLY COST</a:t>
              </a:r>
              <a:endParaRPr b="1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>
              <a:off x="304800" y="666750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Orchestration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6" name="Google Shape;256;p19"/>
            <p:cNvSpPr txBox="1"/>
            <p:nvPr/>
          </p:nvSpPr>
          <p:spPr>
            <a:xfrm>
              <a:off x="2781300" y="666750"/>
              <a:ext cx="552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EKS cluster (1 control plane + 2x t3.medium nodes)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7" name="Google Shape;257;p19"/>
            <p:cNvSpPr txBox="1"/>
            <p:nvPr/>
          </p:nvSpPr>
          <p:spPr>
            <a:xfrm>
              <a:off x="8496300" y="666750"/>
              <a:ext cx="1562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~$140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58" name="Google Shape;258;p19"/>
            <p:cNvCxnSpPr/>
            <p:nvPr/>
          </p:nvCxnSpPr>
          <p:spPr>
            <a:xfrm>
              <a:off x="304800" y="1143000"/>
              <a:ext cx="97536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9" name="Google Shape;259;p19"/>
            <p:cNvSpPr txBox="1"/>
            <p:nvPr/>
          </p:nvSpPr>
          <p:spPr>
            <a:xfrm>
              <a:off x="304800" y="1238250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Mainflux &amp; DB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0" name="Google Shape;260;p19"/>
            <p:cNvSpPr txBox="1"/>
            <p:nvPr/>
          </p:nvSpPr>
          <p:spPr>
            <a:xfrm>
              <a:off x="2781300" y="1238250"/>
              <a:ext cx="552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EC2 t3.medium + RDS PostgreSQL (db.t3.micro)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1" name="Google Shape;261;p19"/>
            <p:cNvSpPr txBox="1"/>
            <p:nvPr/>
          </p:nvSpPr>
          <p:spPr>
            <a:xfrm>
              <a:off x="8496300" y="1238250"/>
              <a:ext cx="1562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~$60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62" name="Google Shape;262;p19"/>
            <p:cNvCxnSpPr/>
            <p:nvPr/>
          </p:nvCxnSpPr>
          <p:spPr>
            <a:xfrm>
              <a:off x="304800" y="1714500"/>
              <a:ext cx="97536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3" name="Google Shape;263;p19"/>
            <p:cNvSpPr txBox="1"/>
            <p:nvPr/>
          </p:nvSpPr>
          <p:spPr>
            <a:xfrm>
              <a:off x="304800" y="1809750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ThingsBoard &amp; DB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4" name="Google Shape;264;p19"/>
            <p:cNvSpPr txBox="1"/>
            <p:nvPr/>
          </p:nvSpPr>
          <p:spPr>
            <a:xfrm>
              <a:off x="2781300" y="1809750"/>
              <a:ext cx="552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EC2 t3.medium + RDS PostgreSQL (db.t3.micro)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5" name="Google Shape;265;p19"/>
            <p:cNvSpPr txBox="1"/>
            <p:nvPr/>
          </p:nvSpPr>
          <p:spPr>
            <a:xfrm>
              <a:off x="8496300" y="1809750"/>
              <a:ext cx="1562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~$60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66" name="Google Shape;266;p19"/>
            <p:cNvCxnSpPr/>
            <p:nvPr/>
          </p:nvCxnSpPr>
          <p:spPr>
            <a:xfrm>
              <a:off x="304800" y="2286000"/>
              <a:ext cx="97536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7" name="Google Shape;267;p19"/>
            <p:cNvSpPr txBox="1"/>
            <p:nvPr/>
          </p:nvSpPr>
          <p:spPr>
            <a:xfrm>
              <a:off x="304800" y="2381250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MQTT Broker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8" name="Google Shape;268;p19"/>
            <p:cNvSpPr txBox="1"/>
            <p:nvPr/>
          </p:nvSpPr>
          <p:spPr>
            <a:xfrm>
              <a:off x="2781300" y="2381250"/>
              <a:ext cx="552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Included in Mainflux (or AWS IoT Core)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9" name="Google Shape;269;p19"/>
            <p:cNvSpPr txBox="1"/>
            <p:nvPr/>
          </p:nvSpPr>
          <p:spPr>
            <a:xfrm>
              <a:off x="8496300" y="2381250"/>
              <a:ext cx="1562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~$5-15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70" name="Google Shape;270;p19"/>
            <p:cNvCxnSpPr/>
            <p:nvPr/>
          </p:nvCxnSpPr>
          <p:spPr>
            <a:xfrm>
              <a:off x="304800" y="2857500"/>
              <a:ext cx="97536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1" name="Google Shape;271;p19"/>
            <p:cNvSpPr txBox="1"/>
            <p:nvPr/>
          </p:nvSpPr>
          <p:spPr>
            <a:xfrm>
              <a:off x="304800" y="2952750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HA Tenant Containers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2" name="Google Shape;272;p19"/>
            <p:cNvSpPr txBox="1"/>
            <p:nvPr/>
          </p:nvSpPr>
          <p:spPr>
            <a:xfrm>
              <a:off x="2781300" y="2952750"/>
              <a:ext cx="552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Fargate, ~10 tasks (0.25 vCPU/0.5GB each)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3" name="Google Shape;273;p19"/>
            <p:cNvSpPr txBox="1"/>
            <p:nvPr/>
          </p:nvSpPr>
          <p:spPr>
            <a:xfrm>
              <a:off x="8496300" y="2952750"/>
              <a:ext cx="1562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~$60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74" name="Google Shape;274;p19"/>
            <p:cNvCxnSpPr/>
            <p:nvPr/>
          </p:nvCxnSpPr>
          <p:spPr>
            <a:xfrm>
              <a:off x="304800" y="3429000"/>
              <a:ext cx="97536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5" name="Google Shape;275;p19"/>
            <p:cNvSpPr txBox="1"/>
            <p:nvPr/>
          </p:nvSpPr>
          <p:spPr>
            <a:xfrm>
              <a:off x="304800" y="3524250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Network Infrastructure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6" name="Google Shape;276;p19"/>
            <p:cNvSpPr txBox="1"/>
            <p:nvPr/>
          </p:nvSpPr>
          <p:spPr>
            <a:xfrm>
              <a:off x="2781300" y="3524250"/>
              <a:ext cx="552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ALB Load Balancer + Outbound Data Transfer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7" name="Google Shape;277;p19"/>
            <p:cNvSpPr txBox="1"/>
            <p:nvPr/>
          </p:nvSpPr>
          <p:spPr>
            <a:xfrm>
              <a:off x="8496300" y="3524250"/>
              <a:ext cx="1562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~$30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152400" y="4000500"/>
              <a:ext cx="10058400" cy="533400"/>
            </a:xfrm>
            <a:prstGeom prst="roundRect">
              <a:avLst>
                <a:gd fmla="val 17857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9"/>
            <p:cNvSpPr txBox="1"/>
            <p:nvPr/>
          </p:nvSpPr>
          <p:spPr>
            <a:xfrm>
              <a:off x="304800" y="4076700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TOTAL ESTIMATED COST</a:t>
              </a:r>
              <a:endParaRPr b="0" sz="1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80" name="Google Shape;280;p19"/>
            <p:cNvSpPr txBox="1"/>
            <p:nvPr/>
          </p:nvSpPr>
          <p:spPr>
            <a:xfrm>
              <a:off x="2781300" y="4076700"/>
              <a:ext cx="552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Flat, predictable AWS operational expense for production scale.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1" name="Google Shape;281;p19"/>
            <p:cNvSpPr txBox="1"/>
            <p:nvPr/>
          </p:nvSpPr>
          <p:spPr>
            <a:xfrm>
              <a:off x="8496300" y="4076700"/>
              <a:ext cx="1562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60A5F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~$355 </a:t>
              </a:r>
              <a:r>
                <a:rPr b="0" lang="en-US" sz="10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/ mo</a:t>
              </a:r>
              <a:endParaRPr b="0" sz="1600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